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"Good morning. Our project is called the Academic Paper Intelligence System.
The problem we solved: peer review — the process where researchers get feedback on their papers — takes months. Experts are overwhelmed. Reviews are inconsistent.
We built a system that reads any research paper PDF and automatically generates a complete peer review in under a minute. It uses a deep learning model we built from scratch and four AI agents that collaborate.
Let me walk you through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"The problem is simple. Peer review takes too long, it is inconsistent, and there is no standard format.
Our solution: we built a system that automates the first pass. It reads any PDF and produces a structured review with strengths, weaknesses, citation analysis, and a final verdict — Accept, Major Revision, or Reject.
The system is not just calling ChatGPT. It has a deep learning model we trained ourselves, four agents that each do a specific job, and a human who approves the classification before anything expensive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"Here is the full pipeline. Five steps.
Step 1: We read the PDF and extract the text.
Step 2: Our TextCNN model looks at the abstract and tells us what field this paper belongs to — Computer Science, Physics, Math, etc. — and how novel the idea is.
Step 3: The pipeline STOPS and asks a human to approve before continuing. This is the human-in-the-loop checkpoint.
Step 4: We search Semantic Scholar — a real academic database — for related papers and citation data.
Step 5: Four AI agents run in sequence, each doing one job and passing results to the next.
The final output is saved as a JSON file and a readable Markdown peer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"This is the most important component. We built a TextCNN — a Convolutional Neural Network for text — completely from scratch in PyTorch.
Here is how it works: First, every word in the abstract gets converted to a list of 128 numbers — this is the embedding layer. Then three convolutional filters scan the text looking for patterns in 2, 3, and 4-word combinations. Max pooling keeps only the strongest signal. We concatenate everything into a 300-number vector representing the whole abstract.
The key innovation is the dual output. Instead of one answer, we get two simultaneously: which research field (11 options) and how novel the idea is (4 levels). Both are used by the agents downstream.
We trained it on 28,000 real arXiv papers and reached 84.57% accuracy in 30 minutes on a free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"These are our training curves. The left graph shows the loss — how wrong the model is — dropping from 2.14 all the way down to 0.56. The right graph shows accuracy going from 25% up to over 84%.
This is real progress. The model started knowing nothing — 25% accuracy is basically random guessing across 11 classes. By the end of 15 epochs it correctly classifies 85% of papers.
The curves are smooth which means no overfitting — the model learned real patterns from the data, not just memorized the training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"Now the four agents. These are AI workers built with CrewAI that run one after another.
Agent 1, the Classifier Agent, receives the TextCNN prediction and the abstract. Its job is to confirm or correct the field. In our example, the TextCNN said Quantitative Biology with only 18% confidence — very uncertain. The agent read the abstract and corrected it to Mathematical Physics. It always writes 'Corrected Field:' at the start so our code can find it.
Agent 2, the Extraction Specialist, uses that corrected field and extracts six pieces of information from the paper — research question, methodology, results, datasets, limitations, and reproducibility.
Agent 3, the Citation Analyst, looks at all the references and the Semantic Scholar results. It scores citation quality and identifies missing papers.
Agent 4, the Critique Writer, takes EVERYTHING from the first three agents and writes the full peer review with a final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"Let me show you the system actually running.
This is a real Mathematical Physics paper from arXiv. The left screenshot shows the pipeline running in the terminal.
Notice step 2 — the TextCNN classified it as Quantitative Biology with only 18% confidence. That triggered our guardrail automatically. The system flagged it for human review before continuing.
After I typed yes to approve, the agents ran. Agent 1 immediately corrected the field to Mathematical Physics by reading the abstract.
The right screenshot shows the pipeline completing successfully. Field: Mathematical Physics. Final verdict: Accept. Citation score: 7 out of 10. Reproducibility: 8 out of 10. The complete peer review was saved to the outputs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"In addition to the command line, we built a web interface using Flask — a Python web framework.
The first screenshot shows the upload page — you drag and drop any PDF.
The second shows the pipeline progress with the human checkpoint — instead of typing yes in a terminal, you click an Approve button in the browser.
The third shows the results dashboard — the verdict displayed prominently, citation score, reproducibility score, and the full review text with download buttons.
The web server runs the pipeline in a background thread so the page stays responsive. The browser polls for updates every 1.5 seconds to show real-time progress.
This demonstrates that the system is production-ready, not just a terminal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"We also tested the system against failure cases. The file test_edge_cases.py has 6 tests — all pass.
Test 1: what if the PDF file doesn't exist? Caught cleanly.
Test 2: what if you upload a .txt file instead of PDF? Caught.
Tests 3 and 4: text sanitization and truncation working correctly.
Tests 5 and 6: the classifier handles empty or gibberish input without crashing.
On the right are our five guardrails — protection layers built into tools/guardrails.py. They validate the PDF before processing, check the extraction quality, force human review when confidence is too low, clean the text before sending to the LLM, and retry automatically when Groq's rate limit is hit.
The system never crashes. It either succeeds or gives a clear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"To summarize what we built.
A TextCNN we designed, coded, and trained from scratch — 4 million parameters, 85% accuracy, dual output.
Four agents that genuinely collaborate — each has one job and passes its output to the next.
A human-in-the-loop checkpoint that is meaningfully placed — not cosmetic.
Five guardrails that prevent crashes.
A web interface and a Colab notebook so the system is accessible without local setup.
Every component exists for a reason. Every agent has a job. We can explain every line of code.
Thank you. We are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FAF7F2"/>
          </a:solidFill>
          <a:ln w="12700">
            <a:solidFill>
              <a:srgbClr val="FAF7F2"/>
            </a:solidFill>
            <a:prstDash val="solid"/>
          </a:ln>
        </p:spPr>
      </p:sp>
      <p:sp>
        <p:nvSpPr>
          <p:cNvPr id="3" name="Text 1"/>
          <p:cNvSpPr/>
          <p:nvPr/>
        </p:nvSpPr>
        <p:spPr>
          <a:xfrm>
            <a:off x="502920" y="548640"/>
            <a:ext cx="4297680" cy="3017520"/>
          </a:xfrm>
          <a:prstGeom prst="rect">
            <a:avLst/>
          </a:prstGeom>
          <a:noFill/>
          <a:ln/>
        </p:spPr>
        <p:txBody>
          <a:bodyPr wrap="square" rtlCol="0" anchor="ctr"/>
          <a:lstStyle/>
          <a:p>
            <a:pPr indent="0" marL="0">
              <a:lnSpc>
                <a:spcPct val="105000"/>
              </a:lnSpc>
              <a:buNone/>
            </a:pPr>
            <a:r>
              <a:rPr lang="en-US" sz="5000" dirty="0">
                <a:solidFill>
                  <a:srgbClr val="FAF7F2"/>
                </a:solidFill>
                <a:latin typeface="Georgia" pitchFamily="34" charset="0"/>
                <a:ea typeface="Georgia" pitchFamily="34" charset="-122"/>
                <a:cs typeface="Georgia" pitchFamily="34" charset="-120"/>
              </a:rPr>
              <a:t>Academic</a:t>
            </a:r>
            <a:endParaRPr lang="en-US" sz="5000" dirty="0"/>
          </a:p>
          <a:p>
            <a:pPr indent="0" marL="0">
              <a:lnSpc>
                <a:spcPct val="105000"/>
              </a:lnSpc>
              <a:buNone/>
            </a:pPr>
            <a:r>
              <a:rPr lang="en-US" sz="5000" dirty="0">
                <a:solidFill>
                  <a:srgbClr val="FAF7F2"/>
                </a:solidFill>
                <a:latin typeface="Georgia" pitchFamily="34" charset="0"/>
                <a:ea typeface="Georgia" pitchFamily="34" charset="-122"/>
                <a:cs typeface="Georgia" pitchFamily="34" charset="-120"/>
              </a:rPr>
              <a:t>Paper</a:t>
            </a:r>
            <a:endParaRPr lang="en-US" sz="5000" dirty="0"/>
          </a:p>
          <a:p>
            <a:pPr indent="0" marL="0">
              <a:lnSpc>
                <a:spcPct val="105000"/>
              </a:lnSpc>
              <a:buNone/>
            </a:pPr>
            <a:r>
              <a:rPr lang="en-US" sz="5000" dirty="0">
                <a:solidFill>
                  <a:srgbClr val="FAF7F2"/>
                </a:solidFill>
                <a:latin typeface="Georgia" pitchFamily="34" charset="0"/>
                <a:ea typeface="Georgia" pitchFamily="34" charset="-122"/>
                <a:cs typeface="Georgia" pitchFamily="34" charset="-120"/>
              </a:rPr>
              <a:t>Intelligence</a:t>
            </a:r>
            <a:endParaRPr lang="en-US" sz="5000" dirty="0"/>
          </a:p>
        </p:txBody>
      </p:sp>
      <p:sp>
        <p:nvSpPr>
          <p:cNvPr id="4" name="Shape 2"/>
          <p:cNvSpPr/>
          <p:nvPr/>
        </p:nvSpPr>
        <p:spPr>
          <a:xfrm>
            <a:off x="502920" y="3566160"/>
            <a:ext cx="1645920" cy="27432"/>
          </a:xfrm>
          <a:prstGeom prst="rect">
            <a:avLst/>
          </a:prstGeom>
          <a:solidFill>
            <a:srgbClr val="C4441C"/>
          </a:solidFill>
          <a:ln w="12700">
            <a:solidFill>
              <a:srgbClr val="C4441C"/>
            </a:solidFill>
            <a:prstDash val="solid"/>
          </a:ln>
        </p:spPr>
      </p:sp>
      <p:sp>
        <p:nvSpPr>
          <p:cNvPr id="5" name="Text 3"/>
          <p:cNvSpPr/>
          <p:nvPr/>
        </p:nvSpPr>
        <p:spPr>
          <a:xfrm>
            <a:off x="502920" y="3712464"/>
            <a:ext cx="4297680" cy="594360"/>
          </a:xfrm>
          <a:prstGeom prst="rect">
            <a:avLst/>
          </a:prstGeom>
          <a:noFill/>
          <a:ln/>
        </p:spPr>
        <p:txBody>
          <a:bodyPr wrap="square" rtlCol="0" anchor="ctr"/>
          <a:lstStyle/>
          <a:p>
            <a:pPr indent="0" marL="0">
              <a:lnSpc>
                <a:spcPct val="150000"/>
              </a:lnSpc>
              <a:buNone/>
            </a:pPr>
            <a:r>
              <a:rPr lang="en-US" sz="1000" dirty="0">
                <a:solidFill>
                  <a:srgbClr val="8C8680"/>
                </a:solidFill>
                <a:latin typeface="Courier New" pitchFamily="34" charset="0"/>
                <a:ea typeface="Courier New" pitchFamily="34" charset="-122"/>
                <a:cs typeface="Courier New" pitchFamily="34" charset="-120"/>
              </a:rPr>
              <a:t>Multi-Agent AI System</a:t>
            </a:r>
            <a:endParaRPr lang="en-US" sz="1000" dirty="0"/>
          </a:p>
          <a:p>
            <a:pPr indent="0" marL="0">
              <a:lnSpc>
                <a:spcPct val="150000"/>
              </a:lnSpc>
              <a:buNone/>
            </a:pPr>
            <a:r>
              <a:rPr lang="en-US" sz="1000" dirty="0">
                <a:solidFill>
                  <a:srgbClr val="8C8680"/>
                </a:solidFill>
                <a:latin typeface="Courier New" pitchFamily="34" charset="0"/>
                <a:ea typeface="Courier New" pitchFamily="34" charset="-122"/>
                <a:cs typeface="Courier New" pitchFamily="34" charset="-120"/>
              </a:rPr>
              <a:t>for Automated Peer Review</a:t>
            </a:r>
            <a:endParaRPr lang="en-US" sz="1000" dirty="0"/>
          </a:p>
        </p:txBody>
      </p:sp>
      <p:sp>
        <p:nvSpPr>
          <p:cNvPr id="6" name="Text 4"/>
          <p:cNvSpPr/>
          <p:nvPr/>
        </p:nvSpPr>
        <p:spPr>
          <a:xfrm>
            <a:off x="5212080" y="457200"/>
            <a:ext cx="3657600" cy="228600"/>
          </a:xfrm>
          <a:prstGeom prst="rect">
            <a:avLst/>
          </a:prstGeom>
          <a:noFill/>
          <a:ln/>
        </p:spPr>
        <p:txBody>
          <a:bodyPr wrap="square" rtlCol="0" anchor="ctr"/>
          <a:lstStyle/>
          <a:p>
            <a:pPr indent="0" marL="0">
              <a:buNone/>
            </a:pPr>
            <a:r>
              <a:rPr lang="en-US" sz="800" spc="300" kern="0" dirty="0">
                <a:solidFill>
                  <a:srgbClr val="8C8680"/>
                </a:solidFill>
                <a:latin typeface="Courier New" pitchFamily="34" charset="0"/>
                <a:ea typeface="Courier New" pitchFamily="34" charset="-122"/>
                <a:cs typeface="Courier New" pitchFamily="34" charset="-120"/>
              </a:rPr>
              <a:t>UIR · AI &amp; Big Data · S8</a:t>
            </a:r>
            <a:endParaRPr lang="en-US" sz="800" dirty="0"/>
          </a:p>
        </p:txBody>
      </p:sp>
      <p:sp>
        <p:nvSpPr>
          <p:cNvPr id="7" name="Shape 5"/>
          <p:cNvSpPr/>
          <p:nvPr/>
        </p:nvSpPr>
        <p:spPr>
          <a:xfrm>
            <a:off x="5212080" y="749808"/>
            <a:ext cx="3657600" cy="0"/>
          </a:xfrm>
          <a:prstGeom prst="line">
            <a:avLst/>
          </a:prstGeom>
          <a:noFill/>
          <a:ln w="6350">
            <a:solidFill>
              <a:srgbClr val="D4CFC8"/>
            </a:solidFill>
            <a:prstDash val="solid"/>
          </a:ln>
        </p:spPr>
      </p:sp>
      <p:sp>
        <p:nvSpPr>
          <p:cNvPr id="8" name="Text 6"/>
          <p:cNvSpPr/>
          <p:nvPr/>
        </p:nvSpPr>
        <p:spPr>
          <a:xfrm>
            <a:off x="5212080" y="896112"/>
            <a:ext cx="3657600" cy="731520"/>
          </a:xfrm>
          <a:prstGeom prst="rect">
            <a:avLst/>
          </a:prstGeom>
          <a:noFill/>
          <a:ln/>
        </p:spPr>
        <p:txBody>
          <a:bodyPr wrap="square" rtlCol="0" anchor="ctr"/>
          <a:lstStyle/>
          <a:p>
            <a:pPr indent="0" marL="0">
              <a:lnSpc>
                <a:spcPct val="140000"/>
              </a:lnSpc>
              <a:buNone/>
            </a:pPr>
            <a:r>
              <a:rPr lang="en-US" sz="1800" dirty="0">
                <a:solidFill>
                  <a:srgbClr val="1C1917"/>
                </a:solidFill>
                <a:latin typeface="Georgia" pitchFamily="34" charset="0"/>
                <a:ea typeface="Georgia" pitchFamily="34" charset="-122"/>
                <a:cs typeface="Georgia" pitchFamily="34" charset="-120"/>
              </a:rPr>
              <a:t>Aya EL MOUDEN</a:t>
            </a:r>
            <a:endParaRPr lang="en-US" sz="1800" dirty="0"/>
          </a:p>
          <a:p>
            <a:pPr indent="0" marL="0">
              <a:lnSpc>
                <a:spcPct val="140000"/>
              </a:lnSpc>
              <a:buNone/>
            </a:pPr>
            <a:r>
              <a:rPr lang="en-US" sz="1800" dirty="0">
                <a:solidFill>
                  <a:srgbClr val="1C1917"/>
                </a:solidFill>
                <a:latin typeface="Georgia" pitchFamily="34" charset="0"/>
                <a:ea typeface="Georgia" pitchFamily="34" charset="-122"/>
                <a:cs typeface="Georgia" pitchFamily="34" charset="-120"/>
              </a:rPr>
              <a:t>Adam HADOUTI</a:t>
            </a:r>
            <a:endParaRPr lang="en-US" sz="1800" dirty="0"/>
          </a:p>
        </p:txBody>
      </p:sp>
      <p:sp>
        <p:nvSpPr>
          <p:cNvPr id="9" name="Text 7"/>
          <p:cNvSpPr/>
          <p:nvPr/>
        </p:nvSpPr>
        <p:spPr>
          <a:xfrm>
            <a:off x="5212080" y="1755648"/>
            <a:ext cx="3657600" cy="274320"/>
          </a:xfrm>
          <a:prstGeom prst="rect">
            <a:avLst/>
          </a:prstGeom>
          <a:noFill/>
          <a:ln/>
        </p:spPr>
        <p:txBody>
          <a:bodyPr wrap="square" rtlCol="0" anchor="ctr"/>
          <a:lstStyle/>
          <a:p>
            <a:pPr indent="0" marL="0">
              <a:buNone/>
            </a:pPr>
            <a:r>
              <a:rPr lang="en-US" sz="900" dirty="0">
                <a:solidFill>
                  <a:srgbClr val="8C8680"/>
                </a:solidFill>
                <a:latin typeface="Courier New" pitchFamily="34" charset="0"/>
                <a:ea typeface="Courier New" pitchFamily="34" charset="-122"/>
                <a:cs typeface="Courier New" pitchFamily="34" charset="-120"/>
              </a:rPr>
              <a:t>Prof. Hakim Hafidi</a:t>
            </a:r>
            <a:endParaRPr lang="en-US" sz="900" dirty="0"/>
          </a:p>
        </p:txBody>
      </p:sp>
      <p:sp>
        <p:nvSpPr>
          <p:cNvPr id="10" name="Shape 8"/>
          <p:cNvSpPr/>
          <p:nvPr/>
        </p:nvSpPr>
        <p:spPr>
          <a:xfrm>
            <a:off x="5212080" y="2121408"/>
            <a:ext cx="3657600" cy="0"/>
          </a:xfrm>
          <a:prstGeom prst="line">
            <a:avLst/>
          </a:prstGeom>
          <a:noFill/>
          <a:ln w="6350">
            <a:solidFill>
              <a:srgbClr val="D4CFC8"/>
            </a:solidFill>
            <a:prstDash val="solid"/>
          </a:ln>
        </p:spPr>
      </p:sp>
      <p:sp>
        <p:nvSpPr>
          <p:cNvPr id="11" name="Text 9"/>
          <p:cNvSpPr/>
          <p:nvPr/>
        </p:nvSpPr>
        <p:spPr>
          <a:xfrm>
            <a:off x="5212080" y="2267712"/>
            <a:ext cx="3657600" cy="438912"/>
          </a:xfrm>
          <a:prstGeom prst="rect">
            <a:avLst/>
          </a:prstGeom>
          <a:noFill/>
          <a:ln/>
        </p:spPr>
        <p:txBody>
          <a:bodyPr wrap="square" rtlCol="0" anchor="ctr"/>
          <a:lstStyle/>
          <a:p>
            <a:pPr indent="0" marL="0">
              <a:buNone/>
            </a:pPr>
            <a:r>
              <a:rPr lang="en-US" sz="3000" dirty="0">
                <a:solidFill>
                  <a:srgbClr val="1C1917"/>
                </a:solidFill>
                <a:latin typeface="Georgia" pitchFamily="34" charset="0"/>
                <a:ea typeface="Georgia" pitchFamily="34" charset="-122"/>
                <a:cs typeface="Georgia" pitchFamily="34" charset="-120"/>
              </a:rPr>
              <a:t>TextCNN</a:t>
            </a:r>
            <a:endParaRPr lang="en-US" sz="3000" dirty="0"/>
          </a:p>
        </p:txBody>
      </p:sp>
      <p:sp>
        <p:nvSpPr>
          <p:cNvPr id="12" name="Text 10"/>
          <p:cNvSpPr/>
          <p:nvPr/>
        </p:nvSpPr>
        <p:spPr>
          <a:xfrm>
            <a:off x="5212080" y="2688336"/>
            <a:ext cx="3657600" cy="201168"/>
          </a:xfrm>
          <a:prstGeom prst="rect">
            <a:avLst/>
          </a:prstGeom>
          <a:noFill/>
          <a:ln/>
        </p:spPr>
        <p:txBody>
          <a:bodyPr wrap="square" rtlCol="0" anchor="ctr"/>
          <a:lstStyle/>
          <a:p>
            <a:pPr indent="0" marL="0">
              <a:buNone/>
            </a:pPr>
            <a:r>
              <a:rPr lang="en-US" sz="800" spc="200" kern="0" dirty="0">
                <a:solidFill>
                  <a:srgbClr val="8C8680"/>
                </a:solidFill>
                <a:latin typeface="Courier New" pitchFamily="34" charset="0"/>
                <a:ea typeface="Courier New" pitchFamily="34" charset="-122"/>
                <a:cs typeface="Courier New" pitchFamily="34" charset="-120"/>
              </a:rPr>
              <a:t>built from scratch</a:t>
            </a:r>
            <a:endParaRPr lang="en-US" sz="800" dirty="0"/>
          </a:p>
        </p:txBody>
      </p:sp>
      <p:sp>
        <p:nvSpPr>
          <p:cNvPr id="13" name="Shape 11"/>
          <p:cNvSpPr/>
          <p:nvPr/>
        </p:nvSpPr>
        <p:spPr>
          <a:xfrm>
            <a:off x="5212080" y="2944368"/>
            <a:ext cx="3657600" cy="0"/>
          </a:xfrm>
          <a:prstGeom prst="line">
            <a:avLst/>
          </a:prstGeom>
          <a:noFill/>
          <a:ln w="6350">
            <a:solidFill>
              <a:srgbClr val="D4CFC8"/>
            </a:solidFill>
            <a:prstDash val="solid"/>
          </a:ln>
        </p:spPr>
      </p:sp>
      <p:sp>
        <p:nvSpPr>
          <p:cNvPr id="14" name="Text 12"/>
          <p:cNvSpPr/>
          <p:nvPr/>
        </p:nvSpPr>
        <p:spPr>
          <a:xfrm>
            <a:off x="5212080" y="3090672"/>
            <a:ext cx="3657600" cy="438912"/>
          </a:xfrm>
          <a:prstGeom prst="rect">
            <a:avLst/>
          </a:prstGeom>
          <a:noFill/>
          <a:ln/>
        </p:spPr>
        <p:txBody>
          <a:bodyPr wrap="square" rtlCol="0" anchor="ctr"/>
          <a:lstStyle/>
          <a:p>
            <a:pPr indent="0" marL="0">
              <a:buNone/>
            </a:pPr>
            <a:r>
              <a:rPr lang="en-US" sz="3000" dirty="0">
                <a:solidFill>
                  <a:srgbClr val="1C1917"/>
                </a:solidFill>
                <a:latin typeface="Georgia" pitchFamily="34" charset="0"/>
                <a:ea typeface="Georgia" pitchFamily="34" charset="-122"/>
                <a:cs typeface="Georgia" pitchFamily="34" charset="-120"/>
              </a:rPr>
              <a:t>4</a:t>
            </a:r>
            <a:endParaRPr lang="en-US" sz="3000" dirty="0"/>
          </a:p>
        </p:txBody>
      </p:sp>
      <p:sp>
        <p:nvSpPr>
          <p:cNvPr id="15" name="Text 13"/>
          <p:cNvSpPr/>
          <p:nvPr/>
        </p:nvSpPr>
        <p:spPr>
          <a:xfrm>
            <a:off x="5212080" y="3511296"/>
            <a:ext cx="3657600" cy="201168"/>
          </a:xfrm>
          <a:prstGeom prst="rect">
            <a:avLst/>
          </a:prstGeom>
          <a:noFill/>
          <a:ln/>
        </p:spPr>
        <p:txBody>
          <a:bodyPr wrap="square" rtlCol="0" anchor="ctr"/>
          <a:lstStyle/>
          <a:p>
            <a:pPr indent="0" marL="0">
              <a:buNone/>
            </a:pPr>
            <a:r>
              <a:rPr lang="en-US" sz="800" spc="200" kern="0" dirty="0">
                <a:solidFill>
                  <a:srgbClr val="8C8680"/>
                </a:solidFill>
                <a:latin typeface="Courier New" pitchFamily="34" charset="0"/>
                <a:ea typeface="Courier New" pitchFamily="34" charset="-122"/>
                <a:cs typeface="Courier New" pitchFamily="34" charset="-120"/>
              </a:rPr>
              <a:t>AI agents</a:t>
            </a:r>
            <a:endParaRPr lang="en-US" sz="800" dirty="0"/>
          </a:p>
        </p:txBody>
      </p:sp>
      <p:sp>
        <p:nvSpPr>
          <p:cNvPr id="16" name="Shape 14"/>
          <p:cNvSpPr/>
          <p:nvPr/>
        </p:nvSpPr>
        <p:spPr>
          <a:xfrm>
            <a:off x="5212080" y="3767328"/>
            <a:ext cx="3657600" cy="0"/>
          </a:xfrm>
          <a:prstGeom prst="line">
            <a:avLst/>
          </a:prstGeom>
          <a:noFill/>
          <a:ln w="6350">
            <a:solidFill>
              <a:srgbClr val="D4CFC8"/>
            </a:solidFill>
            <a:prstDash val="solid"/>
          </a:ln>
        </p:spPr>
      </p:sp>
      <p:sp>
        <p:nvSpPr>
          <p:cNvPr id="17" name="Text 15"/>
          <p:cNvSpPr/>
          <p:nvPr/>
        </p:nvSpPr>
        <p:spPr>
          <a:xfrm>
            <a:off x="5212080" y="3913632"/>
            <a:ext cx="3657600" cy="438912"/>
          </a:xfrm>
          <a:prstGeom prst="rect">
            <a:avLst/>
          </a:prstGeom>
          <a:noFill/>
          <a:ln/>
        </p:spPr>
        <p:txBody>
          <a:bodyPr wrap="square" rtlCol="0" anchor="ctr"/>
          <a:lstStyle/>
          <a:p>
            <a:pPr indent="0" marL="0">
              <a:buNone/>
            </a:pPr>
            <a:r>
              <a:rPr lang="en-US" sz="3000" dirty="0">
                <a:solidFill>
                  <a:srgbClr val="1C1917"/>
                </a:solidFill>
                <a:latin typeface="Georgia" pitchFamily="34" charset="0"/>
                <a:ea typeface="Georgia" pitchFamily="34" charset="-122"/>
                <a:cs typeface="Georgia" pitchFamily="34" charset="-120"/>
              </a:rPr>
              <a:t>85%+</a:t>
            </a:r>
            <a:endParaRPr lang="en-US" sz="3000" dirty="0"/>
          </a:p>
        </p:txBody>
      </p:sp>
      <p:sp>
        <p:nvSpPr>
          <p:cNvPr id="18" name="Text 16"/>
          <p:cNvSpPr/>
          <p:nvPr/>
        </p:nvSpPr>
        <p:spPr>
          <a:xfrm>
            <a:off x="5212080" y="4334256"/>
            <a:ext cx="3657600" cy="201168"/>
          </a:xfrm>
          <a:prstGeom prst="rect">
            <a:avLst/>
          </a:prstGeom>
          <a:noFill/>
          <a:ln/>
        </p:spPr>
        <p:txBody>
          <a:bodyPr wrap="square" rtlCol="0" anchor="ctr"/>
          <a:lstStyle/>
          <a:p>
            <a:pPr indent="0" marL="0">
              <a:buNone/>
            </a:pPr>
            <a:r>
              <a:rPr lang="en-US" sz="800" spc="200" kern="0" dirty="0">
                <a:solidFill>
                  <a:srgbClr val="8C8680"/>
                </a:solidFill>
                <a:latin typeface="Courier New" pitchFamily="34" charset="0"/>
                <a:ea typeface="Courier New" pitchFamily="34" charset="-122"/>
                <a:cs typeface="Courier New" pitchFamily="34" charset="-120"/>
              </a:rPr>
              <a:t>accuracy</a:t>
            </a:r>
            <a:endParaRPr lang="en-US" sz="800" dirty="0"/>
          </a:p>
        </p:txBody>
      </p:sp>
      <p:sp>
        <p:nvSpPr>
          <p:cNvPr id="19" name="Shape 17"/>
          <p:cNvSpPr/>
          <p:nvPr/>
        </p:nvSpPr>
        <p:spPr>
          <a:xfrm>
            <a:off x="5212080" y="4645152"/>
            <a:ext cx="3657600" cy="0"/>
          </a:xfrm>
          <a:prstGeom prst="line">
            <a:avLst/>
          </a:prstGeom>
          <a:noFill/>
          <a:ln w="6350">
            <a:solidFill>
              <a:srgbClr val="D4CFC8"/>
            </a:solidFill>
            <a:prstDash val="solid"/>
          </a:ln>
        </p:spPr>
      </p:sp>
      <p:sp>
        <p:nvSpPr>
          <p:cNvPr id="20" name="Text 18"/>
          <p:cNvSpPr/>
          <p:nvPr/>
        </p:nvSpPr>
        <p:spPr>
          <a:xfrm>
            <a:off x="5212080" y="4718304"/>
            <a:ext cx="3657600" cy="182880"/>
          </a:xfrm>
          <a:prstGeom prst="rect">
            <a:avLst/>
          </a:prstGeom>
          <a:noFill/>
          <a:ln/>
        </p:spPr>
        <p:txBody>
          <a:bodyPr wrap="square" rtlCol="0" anchor="ctr"/>
          <a:lstStyle/>
          <a:p>
            <a:pPr indent="0" marL="0">
              <a:buNone/>
            </a:pPr>
            <a:r>
              <a:rPr lang="en-US" sz="800" spc="200" kern="0" dirty="0">
                <a:solidFill>
                  <a:srgbClr val="8C8680"/>
                </a:solidFill>
                <a:latin typeface="Courier New" pitchFamily="34" charset="0"/>
                <a:ea typeface="Courier New" pitchFamily="34" charset="-122"/>
                <a:cs typeface="Courier New" pitchFamily="34" charset="-120"/>
              </a:rPr>
              <a:t>2025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457200" y="320040"/>
            <a:ext cx="685800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01 — THE PROBLEM &amp; OUR SOLUTION</a:t>
            </a:r>
            <a:endParaRPr lang="en-US" sz="800" dirty="0"/>
          </a:p>
        </p:txBody>
      </p:sp>
      <p:sp>
        <p:nvSpPr>
          <p:cNvPr id="3" name="Shape 1"/>
          <p:cNvSpPr/>
          <p:nvPr/>
        </p:nvSpPr>
        <p:spPr>
          <a:xfrm>
            <a:off x="457200" y="548640"/>
            <a:ext cx="8229600" cy="0"/>
          </a:xfrm>
          <a:prstGeom prst="line">
            <a:avLst/>
          </a:prstGeom>
          <a:noFill/>
          <a:ln w="6350">
            <a:solidFill>
              <a:srgbClr val="D4CFC8"/>
            </a:solidFill>
            <a:prstDash val="solid"/>
          </a:ln>
        </p:spPr>
      </p:sp>
      <p:sp>
        <p:nvSpPr>
          <p:cNvPr id="4" name="Text 2"/>
          <p:cNvSpPr/>
          <p:nvPr/>
        </p:nvSpPr>
        <p:spPr>
          <a:xfrm>
            <a:off x="457200" y="685800"/>
            <a:ext cx="8229600" cy="914400"/>
          </a:xfrm>
          <a:prstGeom prst="rect">
            <a:avLst/>
          </a:prstGeom>
          <a:noFill/>
          <a:ln/>
        </p:spPr>
        <p:txBody>
          <a:bodyPr wrap="square" rtlCol="0" anchor="ctr"/>
          <a:lstStyle/>
          <a:p>
            <a:pPr indent="0" marL="0">
              <a:lnSpc>
                <a:spcPct val="115000"/>
              </a:lnSpc>
              <a:buNone/>
            </a:pPr>
            <a:r>
              <a:rPr lang="en-US" sz="3400" dirty="0">
                <a:solidFill>
                  <a:srgbClr val="1C1917"/>
                </a:solidFill>
                <a:latin typeface="Georgia" pitchFamily="34" charset="0"/>
                <a:ea typeface="Georgia" pitchFamily="34" charset="-122"/>
                <a:cs typeface="Georgia" pitchFamily="34" charset="-120"/>
              </a:rPr>
              <a:t>Peer review is slow.</a:t>
            </a:r>
            <a:endParaRPr lang="en-US" sz="3400" dirty="0"/>
          </a:p>
          <a:p>
            <a:pPr indent="0" marL="0">
              <a:lnSpc>
                <a:spcPct val="115000"/>
              </a:lnSpc>
              <a:buNone/>
            </a:pPr>
            <a:r>
              <a:rPr lang="en-US" sz="3400" dirty="0">
                <a:solidFill>
                  <a:srgbClr val="1C1917"/>
                </a:solidFill>
                <a:latin typeface="Georgia" pitchFamily="34" charset="0"/>
                <a:ea typeface="Georgia" pitchFamily="34" charset="-122"/>
                <a:cs typeface="Georgia" pitchFamily="34" charset="-120"/>
              </a:rPr>
              <a:t>We automated it.</a:t>
            </a:r>
            <a:endParaRPr lang="en-US" sz="3400" dirty="0"/>
          </a:p>
        </p:txBody>
      </p:sp>
      <p:sp>
        <p:nvSpPr>
          <p:cNvPr id="5" name="Shape 3"/>
          <p:cNvSpPr/>
          <p:nvPr/>
        </p:nvSpPr>
        <p:spPr>
          <a:xfrm>
            <a:off x="457200" y="1783080"/>
            <a:ext cx="3840480" cy="3108960"/>
          </a:xfrm>
          <a:prstGeom prst="rect">
            <a:avLst/>
          </a:prstGeom>
          <a:solidFill>
            <a:srgbClr val="FFF0EE"/>
          </a:solidFill>
          <a:ln w="10160">
            <a:solidFill>
              <a:srgbClr val="C4441C"/>
            </a:solidFill>
            <a:prstDash val="solid"/>
          </a:ln>
        </p:spPr>
      </p:sp>
      <p:sp>
        <p:nvSpPr>
          <p:cNvPr id="6" name="Text 4"/>
          <p:cNvSpPr/>
          <p:nvPr/>
        </p:nvSpPr>
        <p:spPr>
          <a:xfrm>
            <a:off x="594360" y="1901952"/>
            <a:ext cx="3566160" cy="274320"/>
          </a:xfrm>
          <a:prstGeom prst="rect">
            <a:avLst/>
          </a:prstGeom>
          <a:noFill/>
          <a:ln/>
        </p:spPr>
        <p:txBody>
          <a:bodyPr wrap="square" rtlCol="0" anchor="ctr"/>
          <a:lstStyle/>
          <a:p>
            <a:pPr indent="0" marL="0">
              <a:buNone/>
            </a:pPr>
            <a:r>
              <a:rPr lang="en-US" sz="1300" dirty="0">
                <a:solidFill>
                  <a:srgbClr val="C4441C"/>
                </a:solidFill>
                <a:latin typeface="Georgia" pitchFamily="34" charset="0"/>
                <a:ea typeface="Georgia" pitchFamily="34" charset="-122"/>
                <a:cs typeface="Georgia" pitchFamily="34" charset="-120"/>
              </a:rPr>
              <a:t>The Problem</a:t>
            </a:r>
            <a:endParaRPr lang="en-US" sz="1300" dirty="0"/>
          </a:p>
        </p:txBody>
      </p:sp>
      <p:sp>
        <p:nvSpPr>
          <p:cNvPr id="7" name="Shape 5"/>
          <p:cNvSpPr/>
          <p:nvPr/>
        </p:nvSpPr>
        <p:spPr>
          <a:xfrm>
            <a:off x="594360" y="2212848"/>
            <a:ext cx="3566160" cy="0"/>
          </a:xfrm>
          <a:prstGeom prst="line">
            <a:avLst/>
          </a:prstGeom>
          <a:noFill/>
          <a:ln w="6350">
            <a:solidFill>
              <a:srgbClr val="C4441C"/>
            </a:solidFill>
            <a:prstDash val="solid"/>
          </a:ln>
        </p:spPr>
      </p:sp>
      <p:sp>
        <p:nvSpPr>
          <p:cNvPr id="8" name="Text 6"/>
          <p:cNvSpPr/>
          <p:nvPr/>
        </p:nvSpPr>
        <p:spPr>
          <a:xfrm>
            <a:off x="594360" y="2331720"/>
            <a:ext cx="3566160" cy="347472"/>
          </a:xfrm>
          <a:prstGeom prst="rect">
            <a:avLst/>
          </a:prstGeom>
          <a:noFill/>
          <a:ln/>
        </p:spPr>
        <p:txBody>
          <a:bodyPr wrap="square" rtlCol="0" anchor="ctr"/>
          <a:lstStyle/>
          <a:p>
            <a:pPr indent="0" marL="0">
              <a:lnSpc>
                <a:spcPct val="140000"/>
              </a:lnSpc>
              <a:buNone/>
            </a:pPr>
            <a:r>
              <a:rPr lang="en-US" sz="900" dirty="0">
                <a:solidFill>
                  <a:srgbClr val="7B1A10"/>
                </a:solidFill>
                <a:latin typeface="Courier New" pitchFamily="34" charset="0"/>
                <a:ea typeface="Courier New" pitchFamily="34" charset="-122"/>
                <a:cs typeface="Courier New" pitchFamily="34" charset="-120"/>
              </a:rPr>
              <a:t>—  Peer review takes 3 to 6 months</a:t>
            </a:r>
            <a:endParaRPr lang="en-US" sz="900" dirty="0"/>
          </a:p>
        </p:txBody>
      </p:sp>
      <p:sp>
        <p:nvSpPr>
          <p:cNvPr id="9" name="Text 7"/>
          <p:cNvSpPr/>
          <p:nvPr/>
        </p:nvSpPr>
        <p:spPr>
          <a:xfrm>
            <a:off x="594360" y="2788920"/>
            <a:ext cx="3566160" cy="347472"/>
          </a:xfrm>
          <a:prstGeom prst="rect">
            <a:avLst/>
          </a:prstGeom>
          <a:noFill/>
          <a:ln/>
        </p:spPr>
        <p:txBody>
          <a:bodyPr wrap="square" rtlCol="0" anchor="ctr"/>
          <a:lstStyle/>
          <a:p>
            <a:pPr indent="0" marL="0">
              <a:lnSpc>
                <a:spcPct val="140000"/>
              </a:lnSpc>
              <a:buNone/>
            </a:pPr>
            <a:r>
              <a:rPr lang="en-US" sz="900" dirty="0">
                <a:solidFill>
                  <a:srgbClr val="7B1A10"/>
                </a:solidFill>
                <a:latin typeface="Courier New" pitchFamily="34" charset="0"/>
                <a:ea typeface="Courier New" pitchFamily="34" charset="-122"/>
                <a:cs typeface="Courier New" pitchFamily="34" charset="-120"/>
              </a:rPr>
              <a:t>—  Review quality varies between reviewers</a:t>
            </a:r>
            <a:endParaRPr lang="en-US" sz="900" dirty="0"/>
          </a:p>
        </p:txBody>
      </p:sp>
      <p:sp>
        <p:nvSpPr>
          <p:cNvPr id="10" name="Text 8"/>
          <p:cNvSpPr/>
          <p:nvPr/>
        </p:nvSpPr>
        <p:spPr>
          <a:xfrm>
            <a:off x="594360" y="3246120"/>
            <a:ext cx="3566160" cy="347472"/>
          </a:xfrm>
          <a:prstGeom prst="rect">
            <a:avLst/>
          </a:prstGeom>
          <a:noFill/>
          <a:ln/>
        </p:spPr>
        <p:txBody>
          <a:bodyPr wrap="square" rtlCol="0" anchor="ctr"/>
          <a:lstStyle/>
          <a:p>
            <a:pPr indent="0" marL="0">
              <a:lnSpc>
                <a:spcPct val="140000"/>
              </a:lnSpc>
              <a:buNone/>
            </a:pPr>
            <a:r>
              <a:rPr lang="en-US" sz="900" dirty="0">
                <a:solidFill>
                  <a:srgbClr val="7B1A10"/>
                </a:solidFill>
                <a:latin typeface="Courier New" pitchFamily="34" charset="0"/>
                <a:ea typeface="Courier New" pitchFamily="34" charset="-122"/>
                <a:cs typeface="Courier New" pitchFamily="34" charset="-120"/>
              </a:rPr>
              <a:t>—  Experts receive too many requests</a:t>
            </a:r>
            <a:endParaRPr lang="en-US" sz="900" dirty="0"/>
          </a:p>
        </p:txBody>
      </p:sp>
      <p:sp>
        <p:nvSpPr>
          <p:cNvPr id="11" name="Text 9"/>
          <p:cNvSpPr/>
          <p:nvPr/>
        </p:nvSpPr>
        <p:spPr>
          <a:xfrm>
            <a:off x="594360" y="3703320"/>
            <a:ext cx="3566160" cy="347472"/>
          </a:xfrm>
          <a:prstGeom prst="rect">
            <a:avLst/>
          </a:prstGeom>
          <a:noFill/>
          <a:ln/>
        </p:spPr>
        <p:txBody>
          <a:bodyPr wrap="square" rtlCol="0" anchor="ctr"/>
          <a:lstStyle/>
          <a:p>
            <a:pPr indent="0" marL="0">
              <a:lnSpc>
                <a:spcPct val="140000"/>
              </a:lnSpc>
              <a:buNone/>
            </a:pPr>
            <a:r>
              <a:rPr lang="en-US" sz="900" dirty="0">
                <a:solidFill>
                  <a:srgbClr val="7B1A10"/>
                </a:solidFill>
                <a:latin typeface="Courier New" pitchFamily="34" charset="0"/>
                <a:ea typeface="Courier New" pitchFamily="34" charset="-122"/>
                <a:cs typeface="Courier New" pitchFamily="34" charset="-120"/>
              </a:rPr>
              <a:t>—  No standard format or structure</a:t>
            </a:r>
            <a:endParaRPr lang="en-US" sz="900" dirty="0"/>
          </a:p>
        </p:txBody>
      </p:sp>
      <p:sp>
        <p:nvSpPr>
          <p:cNvPr id="12" name="Text 10"/>
          <p:cNvSpPr/>
          <p:nvPr/>
        </p:nvSpPr>
        <p:spPr>
          <a:xfrm>
            <a:off x="594360" y="4160520"/>
            <a:ext cx="3566160" cy="347472"/>
          </a:xfrm>
          <a:prstGeom prst="rect">
            <a:avLst/>
          </a:prstGeom>
          <a:noFill/>
          <a:ln/>
        </p:spPr>
        <p:txBody>
          <a:bodyPr wrap="square" rtlCol="0" anchor="ctr"/>
          <a:lstStyle/>
          <a:p>
            <a:pPr indent="0" marL="0">
              <a:lnSpc>
                <a:spcPct val="140000"/>
              </a:lnSpc>
              <a:buNone/>
            </a:pPr>
            <a:r>
              <a:rPr lang="en-US" sz="900" dirty="0">
                <a:solidFill>
                  <a:srgbClr val="7B1A10"/>
                </a:solidFill>
                <a:latin typeface="Courier New" pitchFamily="34" charset="0"/>
                <a:ea typeface="Courier New" pitchFamily="34" charset="-122"/>
                <a:cs typeface="Courier New" pitchFamily="34" charset="-120"/>
              </a:rPr>
              <a:t>—  Getting first feedback is expensive</a:t>
            </a:r>
            <a:endParaRPr lang="en-US" sz="900" dirty="0"/>
          </a:p>
        </p:txBody>
      </p:sp>
      <p:sp>
        <p:nvSpPr>
          <p:cNvPr id="13" name="Shape 11"/>
          <p:cNvSpPr/>
          <p:nvPr/>
        </p:nvSpPr>
        <p:spPr>
          <a:xfrm>
            <a:off x="4663440" y="1783080"/>
            <a:ext cx="4023360" cy="3108960"/>
          </a:xfrm>
          <a:prstGeom prst="rect">
            <a:avLst/>
          </a:prstGeom>
          <a:solidFill>
            <a:srgbClr val="EEF5EE"/>
          </a:solidFill>
          <a:ln w="10160">
            <a:solidFill>
              <a:srgbClr val="2D5016"/>
            </a:solidFill>
            <a:prstDash val="solid"/>
          </a:ln>
        </p:spPr>
      </p:sp>
      <p:sp>
        <p:nvSpPr>
          <p:cNvPr id="14" name="Text 12"/>
          <p:cNvSpPr/>
          <p:nvPr/>
        </p:nvSpPr>
        <p:spPr>
          <a:xfrm>
            <a:off x="4800600" y="1901952"/>
            <a:ext cx="3749040" cy="274320"/>
          </a:xfrm>
          <a:prstGeom prst="rect">
            <a:avLst/>
          </a:prstGeom>
          <a:noFill/>
          <a:ln/>
        </p:spPr>
        <p:txBody>
          <a:bodyPr wrap="square" rtlCol="0" anchor="ctr"/>
          <a:lstStyle/>
          <a:p>
            <a:pPr indent="0" marL="0">
              <a:buNone/>
            </a:pPr>
            <a:r>
              <a:rPr lang="en-US" sz="1300" dirty="0">
                <a:solidFill>
                  <a:srgbClr val="2D5016"/>
                </a:solidFill>
                <a:latin typeface="Georgia" pitchFamily="34" charset="0"/>
                <a:ea typeface="Georgia" pitchFamily="34" charset="-122"/>
                <a:cs typeface="Georgia" pitchFamily="34" charset="-120"/>
              </a:rPr>
              <a:t>Our Solution</a:t>
            </a:r>
            <a:endParaRPr lang="en-US" sz="1300" dirty="0"/>
          </a:p>
        </p:txBody>
      </p:sp>
      <p:sp>
        <p:nvSpPr>
          <p:cNvPr id="15" name="Shape 13"/>
          <p:cNvSpPr/>
          <p:nvPr/>
        </p:nvSpPr>
        <p:spPr>
          <a:xfrm>
            <a:off x="4800600" y="2212848"/>
            <a:ext cx="3749040" cy="0"/>
          </a:xfrm>
          <a:prstGeom prst="line">
            <a:avLst/>
          </a:prstGeom>
          <a:noFill/>
          <a:ln w="6350">
            <a:solidFill>
              <a:srgbClr val="2D5016"/>
            </a:solidFill>
            <a:prstDash val="solid"/>
          </a:ln>
        </p:spPr>
      </p:sp>
      <p:sp>
        <p:nvSpPr>
          <p:cNvPr id="16" name="Text 14"/>
          <p:cNvSpPr/>
          <p:nvPr/>
        </p:nvSpPr>
        <p:spPr>
          <a:xfrm>
            <a:off x="4800600" y="2331720"/>
            <a:ext cx="3749040" cy="182880"/>
          </a:xfrm>
          <a:prstGeom prst="rect">
            <a:avLst/>
          </a:prstGeom>
          <a:noFill/>
          <a:ln/>
        </p:spPr>
        <p:txBody>
          <a:bodyPr wrap="square" rtlCol="0" anchor="ctr"/>
          <a:lstStyle/>
          <a:p>
            <a:pPr indent="0" marL="0">
              <a:buNone/>
            </a:pPr>
            <a:r>
              <a:rPr lang="en-US" sz="900" b="1" dirty="0">
                <a:solidFill>
                  <a:srgbClr val="2D5016"/>
                </a:solidFill>
                <a:latin typeface="Courier New" pitchFamily="34" charset="0"/>
                <a:ea typeface="Courier New" pitchFamily="34" charset="-122"/>
                <a:cs typeface="Courier New" pitchFamily="34" charset="-120"/>
              </a:rPr>
              <a:t>TextCNN model</a:t>
            </a:r>
            <a:endParaRPr lang="en-US" sz="900" dirty="0"/>
          </a:p>
        </p:txBody>
      </p:sp>
      <p:sp>
        <p:nvSpPr>
          <p:cNvPr id="17" name="Text 15"/>
          <p:cNvSpPr/>
          <p:nvPr/>
        </p:nvSpPr>
        <p:spPr>
          <a:xfrm>
            <a:off x="4800600" y="2505456"/>
            <a:ext cx="3749040" cy="164592"/>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Classifies field + novelty in seconds</a:t>
            </a:r>
            <a:endParaRPr lang="en-US" sz="800" dirty="0"/>
          </a:p>
        </p:txBody>
      </p:sp>
      <p:sp>
        <p:nvSpPr>
          <p:cNvPr id="18" name="Text 16"/>
          <p:cNvSpPr/>
          <p:nvPr/>
        </p:nvSpPr>
        <p:spPr>
          <a:xfrm>
            <a:off x="4800600" y="2788920"/>
            <a:ext cx="3749040" cy="182880"/>
          </a:xfrm>
          <a:prstGeom prst="rect">
            <a:avLst/>
          </a:prstGeom>
          <a:noFill/>
          <a:ln/>
        </p:spPr>
        <p:txBody>
          <a:bodyPr wrap="square" rtlCol="0" anchor="ctr"/>
          <a:lstStyle/>
          <a:p>
            <a:pPr indent="0" marL="0">
              <a:buNone/>
            </a:pPr>
            <a:r>
              <a:rPr lang="en-US" sz="900" b="1" dirty="0">
                <a:solidFill>
                  <a:srgbClr val="2D5016"/>
                </a:solidFill>
                <a:latin typeface="Courier New" pitchFamily="34" charset="0"/>
                <a:ea typeface="Courier New" pitchFamily="34" charset="-122"/>
                <a:cs typeface="Courier New" pitchFamily="34" charset="-120"/>
              </a:rPr>
              <a:t>4 AI Agents</a:t>
            </a:r>
            <a:endParaRPr lang="en-US" sz="900" dirty="0"/>
          </a:p>
        </p:txBody>
      </p:sp>
      <p:sp>
        <p:nvSpPr>
          <p:cNvPr id="19" name="Text 17"/>
          <p:cNvSpPr/>
          <p:nvPr/>
        </p:nvSpPr>
        <p:spPr>
          <a:xfrm>
            <a:off x="4800600" y="2962656"/>
            <a:ext cx="3749040" cy="164592"/>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Each has one job, pass results to next</a:t>
            </a:r>
            <a:endParaRPr lang="en-US" sz="800" dirty="0"/>
          </a:p>
        </p:txBody>
      </p:sp>
      <p:sp>
        <p:nvSpPr>
          <p:cNvPr id="20" name="Text 18"/>
          <p:cNvSpPr/>
          <p:nvPr/>
        </p:nvSpPr>
        <p:spPr>
          <a:xfrm>
            <a:off x="4800600" y="3246120"/>
            <a:ext cx="3749040" cy="182880"/>
          </a:xfrm>
          <a:prstGeom prst="rect">
            <a:avLst/>
          </a:prstGeom>
          <a:noFill/>
          <a:ln/>
        </p:spPr>
        <p:txBody>
          <a:bodyPr wrap="square" rtlCol="0" anchor="ctr"/>
          <a:lstStyle/>
          <a:p>
            <a:pPr indent="0" marL="0">
              <a:buNone/>
            </a:pPr>
            <a:r>
              <a:rPr lang="en-US" sz="900" b="1" dirty="0">
                <a:solidFill>
                  <a:srgbClr val="2D5016"/>
                </a:solidFill>
                <a:latin typeface="Courier New" pitchFamily="34" charset="0"/>
                <a:ea typeface="Courier New" pitchFamily="34" charset="-122"/>
                <a:cs typeface="Courier New" pitchFamily="34" charset="-120"/>
              </a:rPr>
              <a:t>Human-in-the-loop</a:t>
            </a:r>
            <a:endParaRPr lang="en-US" sz="900" dirty="0"/>
          </a:p>
        </p:txBody>
      </p:sp>
      <p:sp>
        <p:nvSpPr>
          <p:cNvPr id="21" name="Text 19"/>
          <p:cNvSpPr/>
          <p:nvPr/>
        </p:nvSpPr>
        <p:spPr>
          <a:xfrm>
            <a:off x="4800600" y="3419856"/>
            <a:ext cx="3749040" cy="164592"/>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Human approves before LLM analysis</a:t>
            </a:r>
            <a:endParaRPr lang="en-US" sz="800" dirty="0"/>
          </a:p>
        </p:txBody>
      </p:sp>
      <p:sp>
        <p:nvSpPr>
          <p:cNvPr id="22" name="Text 20"/>
          <p:cNvSpPr/>
          <p:nvPr/>
        </p:nvSpPr>
        <p:spPr>
          <a:xfrm>
            <a:off x="4800600" y="3703320"/>
            <a:ext cx="3749040" cy="182880"/>
          </a:xfrm>
          <a:prstGeom prst="rect">
            <a:avLst/>
          </a:prstGeom>
          <a:noFill/>
          <a:ln/>
        </p:spPr>
        <p:txBody>
          <a:bodyPr wrap="square" rtlCol="0" anchor="ctr"/>
          <a:lstStyle/>
          <a:p>
            <a:pPr indent="0" marL="0">
              <a:buNone/>
            </a:pPr>
            <a:r>
              <a:rPr lang="en-US" sz="900" b="1" dirty="0">
                <a:solidFill>
                  <a:srgbClr val="2D5016"/>
                </a:solidFill>
                <a:latin typeface="Courier New" pitchFamily="34" charset="0"/>
                <a:ea typeface="Courier New" pitchFamily="34" charset="-122"/>
                <a:cs typeface="Courier New" pitchFamily="34" charset="-120"/>
              </a:rPr>
              <a:t>Semantic Scholar</a:t>
            </a:r>
            <a:endParaRPr lang="en-US" sz="900" dirty="0"/>
          </a:p>
        </p:txBody>
      </p:sp>
      <p:sp>
        <p:nvSpPr>
          <p:cNvPr id="23" name="Text 21"/>
          <p:cNvSpPr/>
          <p:nvPr/>
        </p:nvSpPr>
        <p:spPr>
          <a:xfrm>
            <a:off x="4800600" y="3877056"/>
            <a:ext cx="3749040" cy="164592"/>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Real citation search, 200M papers</a:t>
            </a:r>
            <a:endParaRPr lang="en-US" sz="800" dirty="0"/>
          </a:p>
        </p:txBody>
      </p:sp>
      <p:sp>
        <p:nvSpPr>
          <p:cNvPr id="24" name="Text 22"/>
          <p:cNvSpPr/>
          <p:nvPr/>
        </p:nvSpPr>
        <p:spPr>
          <a:xfrm>
            <a:off x="4800600" y="4160520"/>
            <a:ext cx="3749040" cy="182880"/>
          </a:xfrm>
          <a:prstGeom prst="rect">
            <a:avLst/>
          </a:prstGeom>
          <a:noFill/>
          <a:ln/>
        </p:spPr>
        <p:txBody>
          <a:bodyPr wrap="square" rtlCol="0" anchor="ctr"/>
          <a:lstStyle/>
          <a:p>
            <a:pPr indent="0" marL="0">
              <a:buNone/>
            </a:pPr>
            <a:r>
              <a:rPr lang="en-US" sz="900" b="1" dirty="0">
                <a:solidFill>
                  <a:srgbClr val="2D5016"/>
                </a:solidFill>
                <a:latin typeface="Courier New" pitchFamily="34" charset="0"/>
                <a:ea typeface="Courier New" pitchFamily="34" charset="-122"/>
                <a:cs typeface="Courier New" pitchFamily="34" charset="-120"/>
              </a:rPr>
              <a:t>Web interface</a:t>
            </a:r>
            <a:endParaRPr lang="en-US" sz="900" dirty="0"/>
          </a:p>
        </p:txBody>
      </p:sp>
      <p:sp>
        <p:nvSpPr>
          <p:cNvPr id="25" name="Text 23"/>
          <p:cNvSpPr/>
          <p:nvPr/>
        </p:nvSpPr>
        <p:spPr>
          <a:xfrm>
            <a:off x="4800600" y="4334256"/>
            <a:ext cx="3749040" cy="164592"/>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Professional UI for any PDF</a:t>
            </a:r>
            <a:endParaRPr lang="en-US" sz="800" dirty="0"/>
          </a:p>
        </p:txBody>
      </p:sp>
      <p:sp>
        <p:nvSpPr>
          <p:cNvPr id="26" name="Text 24"/>
          <p:cNvSpPr/>
          <p:nvPr/>
        </p:nvSpPr>
        <p:spPr>
          <a:xfrm>
            <a:off x="8046720" y="4892040"/>
            <a:ext cx="914400" cy="182880"/>
          </a:xfrm>
          <a:prstGeom prst="rect">
            <a:avLst/>
          </a:prstGeom>
          <a:noFill/>
          <a:ln/>
        </p:spPr>
        <p:txBody>
          <a:bodyPr wrap="square" rtlCol="0" anchor="ctr"/>
          <a:lstStyle/>
          <a:p>
            <a:pPr algn="r" indent="0" marL="0">
              <a:buNone/>
            </a:pPr>
            <a:r>
              <a:rPr lang="en-US" sz="800" dirty="0">
                <a:solidFill>
                  <a:srgbClr val="D4CFC8"/>
                </a:solidFill>
                <a:latin typeface="Courier New" pitchFamily="34" charset="0"/>
                <a:ea typeface="Courier New" pitchFamily="34" charset="-122"/>
                <a:cs typeface="Courier New" pitchFamily="34" charset="-120"/>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457200" y="320040"/>
            <a:ext cx="685800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02 — SYSTEM ARCHITECTURE</a:t>
            </a:r>
            <a:endParaRPr lang="en-US" sz="800" dirty="0"/>
          </a:p>
        </p:txBody>
      </p:sp>
      <p:sp>
        <p:nvSpPr>
          <p:cNvPr id="3" name="Shape 1"/>
          <p:cNvSpPr/>
          <p:nvPr/>
        </p:nvSpPr>
        <p:spPr>
          <a:xfrm>
            <a:off x="457200" y="548640"/>
            <a:ext cx="8229600" cy="0"/>
          </a:xfrm>
          <a:prstGeom prst="line">
            <a:avLst/>
          </a:prstGeom>
          <a:noFill/>
          <a:ln w="6350">
            <a:solidFill>
              <a:srgbClr val="D4CFC8"/>
            </a:solidFill>
            <a:prstDash val="solid"/>
          </a:ln>
        </p:spPr>
      </p:sp>
      <p:sp>
        <p:nvSpPr>
          <p:cNvPr id="4" name="Text 2"/>
          <p:cNvSpPr/>
          <p:nvPr/>
        </p:nvSpPr>
        <p:spPr>
          <a:xfrm>
            <a:off x="457200" y="685800"/>
            <a:ext cx="8229600" cy="548640"/>
          </a:xfrm>
          <a:prstGeom prst="rect">
            <a:avLst/>
          </a:prstGeom>
          <a:noFill/>
          <a:ln/>
        </p:spPr>
        <p:txBody>
          <a:bodyPr wrap="square" rtlCol="0" anchor="ctr"/>
          <a:lstStyle/>
          <a:p>
            <a:pPr indent="0" marL="0">
              <a:buNone/>
            </a:pPr>
            <a:r>
              <a:rPr lang="en-US" sz="3200" dirty="0">
                <a:solidFill>
                  <a:srgbClr val="1C1917"/>
                </a:solidFill>
                <a:latin typeface="Georgia" pitchFamily="34" charset="0"/>
                <a:ea typeface="Georgia" pitchFamily="34" charset="-122"/>
                <a:cs typeface="Georgia" pitchFamily="34" charset="-120"/>
              </a:rPr>
              <a:t>Five steps. One pipeline.</a:t>
            </a:r>
            <a:endParaRPr lang="en-US" sz="3200" dirty="0"/>
          </a:p>
        </p:txBody>
      </p:sp>
      <p:sp>
        <p:nvSpPr>
          <p:cNvPr id="5" name="Shape 3"/>
          <p:cNvSpPr/>
          <p:nvPr/>
        </p:nvSpPr>
        <p:spPr>
          <a:xfrm>
            <a:off x="457200" y="1417320"/>
            <a:ext cx="1600200" cy="3291840"/>
          </a:xfrm>
          <a:prstGeom prst="rect">
            <a:avLst/>
          </a:prstGeom>
          <a:solidFill>
            <a:srgbClr val="E8E4DE"/>
          </a:solidFill>
          <a:ln w="12700">
            <a:solidFill>
              <a:srgbClr val="D4CFC8"/>
            </a:solidFill>
            <a:prstDash val="solid"/>
          </a:ln>
        </p:spPr>
      </p:sp>
      <p:sp>
        <p:nvSpPr>
          <p:cNvPr id="6" name="Shape 4"/>
          <p:cNvSpPr/>
          <p:nvPr/>
        </p:nvSpPr>
        <p:spPr>
          <a:xfrm>
            <a:off x="457200" y="1417320"/>
            <a:ext cx="1600200" cy="54864"/>
          </a:xfrm>
          <a:prstGeom prst="rect">
            <a:avLst/>
          </a:prstGeom>
          <a:solidFill>
            <a:srgbClr val="1C1917"/>
          </a:solidFill>
          <a:ln w="12700">
            <a:solidFill>
              <a:srgbClr val="1C1917"/>
            </a:solidFill>
            <a:prstDash val="solid"/>
          </a:ln>
        </p:spPr>
      </p:sp>
      <p:sp>
        <p:nvSpPr>
          <p:cNvPr id="7" name="Text 5"/>
          <p:cNvSpPr/>
          <p:nvPr/>
        </p:nvSpPr>
        <p:spPr>
          <a:xfrm>
            <a:off x="566928" y="1572768"/>
            <a:ext cx="1371600" cy="347472"/>
          </a:xfrm>
          <a:prstGeom prst="rect">
            <a:avLst/>
          </a:prstGeom>
          <a:noFill/>
          <a:ln/>
        </p:spPr>
        <p:txBody>
          <a:bodyPr wrap="square" rtlCol="0" anchor="ctr"/>
          <a:lstStyle/>
          <a:p>
            <a:pPr indent="0" marL="0">
              <a:buNone/>
            </a:pPr>
            <a:r>
              <a:rPr lang="en-US" sz="2200" dirty="0">
                <a:solidFill>
                  <a:srgbClr val="1C1917"/>
                </a:solidFill>
                <a:latin typeface="Courier New" pitchFamily="34" charset="0"/>
                <a:ea typeface="Courier New" pitchFamily="34" charset="-122"/>
                <a:cs typeface="Courier New" pitchFamily="34" charset="-120"/>
              </a:rPr>
              <a:t>01</a:t>
            </a:r>
            <a:endParaRPr lang="en-US" sz="2200" dirty="0"/>
          </a:p>
        </p:txBody>
      </p:sp>
      <p:sp>
        <p:nvSpPr>
          <p:cNvPr id="8" name="Text 6"/>
          <p:cNvSpPr/>
          <p:nvPr/>
        </p:nvSpPr>
        <p:spPr>
          <a:xfrm>
            <a:off x="566928" y="1965960"/>
            <a:ext cx="1371600" cy="457200"/>
          </a:xfrm>
          <a:prstGeom prst="rect">
            <a:avLst/>
          </a:prstGeom>
          <a:noFill/>
          <a:ln/>
        </p:spPr>
        <p:txBody>
          <a:bodyPr wrap="square" rtlCol="0" anchor="ctr"/>
          <a:lstStyle/>
          <a:p>
            <a:pPr indent="0" marL="0">
              <a:lnSpc>
                <a:spcPct val="120000"/>
              </a:lnSpc>
              <a:buNone/>
            </a:pPr>
            <a:r>
              <a:rPr lang="en-US" sz="1100" dirty="0">
                <a:solidFill>
                  <a:srgbClr val="1C1917"/>
                </a:solidFill>
                <a:latin typeface="Georgia" pitchFamily="34" charset="0"/>
                <a:ea typeface="Georgia" pitchFamily="34" charset="-122"/>
                <a:cs typeface="Georgia" pitchFamily="34" charset="-120"/>
              </a:rPr>
              <a:t>PDF Reader</a:t>
            </a:r>
            <a:endParaRPr lang="en-US" sz="1100" dirty="0"/>
          </a:p>
        </p:txBody>
      </p:sp>
      <p:sp>
        <p:nvSpPr>
          <p:cNvPr id="9" name="Shape 7"/>
          <p:cNvSpPr/>
          <p:nvPr/>
        </p:nvSpPr>
        <p:spPr>
          <a:xfrm>
            <a:off x="566928" y="2468880"/>
            <a:ext cx="1371600" cy="0"/>
          </a:xfrm>
          <a:prstGeom prst="line">
            <a:avLst/>
          </a:prstGeom>
          <a:noFill/>
          <a:ln w="6350">
            <a:solidFill>
              <a:srgbClr val="D4CFC8"/>
            </a:solidFill>
            <a:prstDash val="solid"/>
          </a:ln>
        </p:spPr>
      </p:sp>
      <p:sp>
        <p:nvSpPr>
          <p:cNvPr id="10" name="Text 8"/>
          <p:cNvSpPr/>
          <p:nvPr/>
        </p:nvSpPr>
        <p:spPr>
          <a:xfrm>
            <a:off x="566928" y="2542032"/>
            <a:ext cx="1371600" cy="1188720"/>
          </a:xfrm>
          <a:prstGeom prst="rect">
            <a:avLst/>
          </a:prstGeom>
          <a:noFill/>
          <a:ln/>
        </p:spPr>
        <p:txBody>
          <a:bodyPr wrap="square" rtlCol="0" anchor="ctr"/>
          <a:lstStyle/>
          <a:p>
            <a:pPr indent="0" marL="0">
              <a:lnSpc>
                <a:spcPct val="150000"/>
              </a:lnSpc>
              <a:buNone/>
            </a:pPr>
            <a:r>
              <a:rPr lang="en-US" sz="800" dirty="0">
                <a:solidFill>
                  <a:srgbClr val="8C8680"/>
                </a:solidFill>
                <a:latin typeface="Courier New" pitchFamily="34" charset="0"/>
                <a:ea typeface="Courier New" pitchFamily="34" charset="-122"/>
                <a:cs typeface="Courier New" pitchFamily="34" charset="-120"/>
              </a:rPr>
              <a:t>Opens the PDF. Extracts title, abstract, full text, all references.</a:t>
            </a:r>
            <a:endParaRPr lang="en-US" sz="800" dirty="0"/>
          </a:p>
        </p:txBody>
      </p:sp>
      <p:sp>
        <p:nvSpPr>
          <p:cNvPr id="11" name="Shape 9"/>
          <p:cNvSpPr/>
          <p:nvPr/>
        </p:nvSpPr>
        <p:spPr>
          <a:xfrm>
            <a:off x="566928" y="3794760"/>
            <a:ext cx="1371600" cy="0"/>
          </a:xfrm>
          <a:prstGeom prst="line">
            <a:avLst/>
          </a:prstGeom>
          <a:noFill/>
          <a:ln w="6350">
            <a:solidFill>
              <a:srgbClr val="D4CFC8"/>
            </a:solidFill>
            <a:prstDash val="solid"/>
          </a:ln>
        </p:spPr>
      </p:sp>
      <p:sp>
        <p:nvSpPr>
          <p:cNvPr id="12" name="Text 10"/>
          <p:cNvSpPr/>
          <p:nvPr/>
        </p:nvSpPr>
        <p:spPr>
          <a:xfrm>
            <a:off x="566928" y="3858768"/>
            <a:ext cx="1371600" cy="777240"/>
          </a:xfrm>
          <a:prstGeom prst="rect">
            <a:avLst/>
          </a:prstGeom>
          <a:noFill/>
          <a:ln/>
        </p:spPr>
        <p:txBody>
          <a:bodyPr wrap="square" rtlCol="0" anchor="ctr"/>
          <a:lstStyle/>
          <a:p>
            <a:pPr indent="0" marL="0">
              <a:lnSpc>
                <a:spcPct val="140000"/>
              </a:lnSpc>
              <a:buNone/>
            </a:pPr>
            <a:r>
              <a:rPr lang="en-US" sz="750" dirty="0">
                <a:solidFill>
                  <a:srgbClr val="1C1917"/>
                </a:solidFill>
                <a:latin typeface="Courier New" pitchFamily="34" charset="0"/>
                <a:ea typeface="Courier New" pitchFamily="34" charset="-122"/>
                <a:cs typeface="Courier New" pitchFamily="34" charset="-120"/>
              </a:rPr>
              <a:t>The system reads the paper like a human would — pulls out the important parts.</a:t>
            </a:r>
            <a:endParaRPr lang="en-US" sz="750" dirty="0"/>
          </a:p>
        </p:txBody>
      </p:sp>
      <p:sp>
        <p:nvSpPr>
          <p:cNvPr id="13" name="Text 11"/>
          <p:cNvSpPr/>
          <p:nvPr/>
        </p:nvSpPr>
        <p:spPr>
          <a:xfrm>
            <a:off x="2029968" y="2834640"/>
            <a:ext cx="201168" cy="228600"/>
          </a:xfrm>
          <a:prstGeom prst="rect">
            <a:avLst/>
          </a:prstGeom>
          <a:noFill/>
          <a:ln/>
        </p:spPr>
        <p:txBody>
          <a:bodyPr wrap="square" rtlCol="0" anchor="ctr"/>
          <a:lstStyle/>
          <a:p>
            <a:pPr algn="ctr" indent="0" marL="0">
              <a:buNone/>
            </a:pPr>
            <a:r>
              <a:rPr lang="en-US" sz="1200" dirty="0">
                <a:solidFill>
                  <a:srgbClr val="D4CFC8"/>
                </a:solidFill>
                <a:latin typeface="Georgia" pitchFamily="34" charset="0"/>
                <a:ea typeface="Georgia" pitchFamily="34" charset="-122"/>
                <a:cs typeface="Georgia" pitchFamily="34" charset="-120"/>
              </a:rPr>
              <a:t>→</a:t>
            </a:r>
            <a:endParaRPr lang="en-US" sz="1200" dirty="0"/>
          </a:p>
        </p:txBody>
      </p:sp>
      <p:sp>
        <p:nvSpPr>
          <p:cNvPr id="14" name="Shape 12"/>
          <p:cNvSpPr/>
          <p:nvPr/>
        </p:nvSpPr>
        <p:spPr>
          <a:xfrm>
            <a:off x="2194560" y="1417320"/>
            <a:ext cx="1600200" cy="3291840"/>
          </a:xfrm>
          <a:prstGeom prst="rect">
            <a:avLst/>
          </a:prstGeom>
          <a:solidFill>
            <a:srgbClr val="FFFFFF"/>
          </a:solidFill>
          <a:ln w="12700">
            <a:solidFill>
              <a:srgbClr val="D4CFC8"/>
            </a:solidFill>
            <a:prstDash val="solid"/>
          </a:ln>
        </p:spPr>
      </p:sp>
      <p:sp>
        <p:nvSpPr>
          <p:cNvPr id="15" name="Shape 13"/>
          <p:cNvSpPr/>
          <p:nvPr/>
        </p:nvSpPr>
        <p:spPr>
          <a:xfrm>
            <a:off x="2194560" y="1417320"/>
            <a:ext cx="1600200" cy="54864"/>
          </a:xfrm>
          <a:prstGeom prst="rect">
            <a:avLst/>
          </a:prstGeom>
          <a:solidFill>
            <a:srgbClr val="C4441C"/>
          </a:solidFill>
          <a:ln w="12700">
            <a:solidFill>
              <a:srgbClr val="C4441C"/>
            </a:solidFill>
            <a:prstDash val="solid"/>
          </a:ln>
        </p:spPr>
      </p:sp>
      <p:sp>
        <p:nvSpPr>
          <p:cNvPr id="16" name="Text 14"/>
          <p:cNvSpPr/>
          <p:nvPr/>
        </p:nvSpPr>
        <p:spPr>
          <a:xfrm>
            <a:off x="2304288" y="1572768"/>
            <a:ext cx="1371600" cy="347472"/>
          </a:xfrm>
          <a:prstGeom prst="rect">
            <a:avLst/>
          </a:prstGeom>
          <a:noFill/>
          <a:ln/>
        </p:spPr>
        <p:txBody>
          <a:bodyPr wrap="square" rtlCol="0" anchor="ctr"/>
          <a:lstStyle/>
          <a:p>
            <a:pPr indent="0" marL="0">
              <a:buNone/>
            </a:pPr>
            <a:r>
              <a:rPr lang="en-US" sz="2200" dirty="0">
                <a:solidFill>
                  <a:srgbClr val="C4441C"/>
                </a:solidFill>
                <a:latin typeface="Courier New" pitchFamily="34" charset="0"/>
                <a:ea typeface="Courier New" pitchFamily="34" charset="-122"/>
                <a:cs typeface="Courier New" pitchFamily="34" charset="-120"/>
              </a:rPr>
              <a:t>02</a:t>
            </a:r>
            <a:endParaRPr lang="en-US" sz="2200" dirty="0"/>
          </a:p>
        </p:txBody>
      </p:sp>
      <p:sp>
        <p:nvSpPr>
          <p:cNvPr id="17" name="Text 15"/>
          <p:cNvSpPr/>
          <p:nvPr/>
        </p:nvSpPr>
        <p:spPr>
          <a:xfrm>
            <a:off x="2304288" y="1965960"/>
            <a:ext cx="1371600" cy="457200"/>
          </a:xfrm>
          <a:prstGeom prst="rect">
            <a:avLst/>
          </a:prstGeom>
          <a:noFill/>
          <a:ln/>
        </p:spPr>
        <p:txBody>
          <a:bodyPr wrap="square" rtlCol="0" anchor="ctr"/>
          <a:lstStyle/>
          <a:p>
            <a:pPr indent="0" marL="0">
              <a:lnSpc>
                <a:spcPct val="120000"/>
              </a:lnSpc>
              <a:buNone/>
            </a:pPr>
            <a:r>
              <a:rPr lang="en-US" sz="1100" dirty="0">
                <a:solidFill>
                  <a:srgbClr val="1C1917"/>
                </a:solidFill>
                <a:latin typeface="Georgia" pitchFamily="34" charset="0"/>
                <a:ea typeface="Georgia" pitchFamily="34" charset="-122"/>
                <a:cs typeface="Georgia" pitchFamily="34" charset="-120"/>
              </a:rPr>
              <a:t>TextCNN</a:t>
            </a:r>
            <a:endParaRPr lang="en-US" sz="1100" dirty="0"/>
          </a:p>
        </p:txBody>
      </p:sp>
      <p:sp>
        <p:nvSpPr>
          <p:cNvPr id="18" name="Shape 16"/>
          <p:cNvSpPr/>
          <p:nvPr/>
        </p:nvSpPr>
        <p:spPr>
          <a:xfrm>
            <a:off x="2304288" y="2468880"/>
            <a:ext cx="1371600" cy="0"/>
          </a:xfrm>
          <a:prstGeom prst="line">
            <a:avLst/>
          </a:prstGeom>
          <a:noFill/>
          <a:ln w="6350">
            <a:solidFill>
              <a:srgbClr val="D4CFC8"/>
            </a:solidFill>
            <a:prstDash val="solid"/>
          </a:ln>
        </p:spPr>
      </p:sp>
      <p:sp>
        <p:nvSpPr>
          <p:cNvPr id="19" name="Text 17"/>
          <p:cNvSpPr/>
          <p:nvPr/>
        </p:nvSpPr>
        <p:spPr>
          <a:xfrm>
            <a:off x="2304288" y="2542032"/>
            <a:ext cx="1371600" cy="1188720"/>
          </a:xfrm>
          <a:prstGeom prst="rect">
            <a:avLst/>
          </a:prstGeom>
          <a:noFill/>
          <a:ln/>
        </p:spPr>
        <p:txBody>
          <a:bodyPr wrap="square" rtlCol="0" anchor="ctr"/>
          <a:lstStyle/>
          <a:p>
            <a:pPr indent="0" marL="0">
              <a:lnSpc>
                <a:spcPct val="150000"/>
              </a:lnSpc>
              <a:buNone/>
            </a:pPr>
            <a:r>
              <a:rPr lang="en-US" sz="800" dirty="0">
                <a:solidFill>
                  <a:srgbClr val="8C8680"/>
                </a:solidFill>
                <a:latin typeface="Courier New" pitchFamily="34" charset="0"/>
                <a:ea typeface="Courier New" pitchFamily="34" charset="-122"/>
                <a:cs typeface="Courier New" pitchFamily="34" charset="-120"/>
              </a:rPr>
              <a:t>Our neural network. Classifies field (11 classes) + novelty (4 levels) simultaneously.</a:t>
            </a:r>
            <a:endParaRPr lang="en-US" sz="800" dirty="0"/>
          </a:p>
        </p:txBody>
      </p:sp>
      <p:sp>
        <p:nvSpPr>
          <p:cNvPr id="20" name="Shape 18"/>
          <p:cNvSpPr/>
          <p:nvPr/>
        </p:nvSpPr>
        <p:spPr>
          <a:xfrm>
            <a:off x="2304288" y="3794760"/>
            <a:ext cx="1371600" cy="0"/>
          </a:xfrm>
          <a:prstGeom prst="line">
            <a:avLst/>
          </a:prstGeom>
          <a:noFill/>
          <a:ln w="6350">
            <a:solidFill>
              <a:srgbClr val="D4CFC8"/>
            </a:solidFill>
            <a:prstDash val="solid"/>
          </a:ln>
        </p:spPr>
      </p:sp>
      <p:sp>
        <p:nvSpPr>
          <p:cNvPr id="21" name="Text 19"/>
          <p:cNvSpPr/>
          <p:nvPr/>
        </p:nvSpPr>
        <p:spPr>
          <a:xfrm>
            <a:off x="2304288" y="3858768"/>
            <a:ext cx="1371600" cy="777240"/>
          </a:xfrm>
          <a:prstGeom prst="rect">
            <a:avLst/>
          </a:prstGeom>
          <a:noFill/>
          <a:ln/>
        </p:spPr>
        <p:txBody>
          <a:bodyPr wrap="square" rtlCol="0" anchor="ctr"/>
          <a:lstStyle/>
          <a:p>
            <a:pPr indent="0" marL="0">
              <a:lnSpc>
                <a:spcPct val="140000"/>
              </a:lnSpc>
              <a:buNone/>
            </a:pPr>
            <a:r>
              <a:rPr lang="en-US" sz="750" dirty="0">
                <a:solidFill>
                  <a:srgbClr val="C4441C"/>
                </a:solidFill>
                <a:latin typeface="Courier New" pitchFamily="34" charset="0"/>
                <a:ea typeface="Courier New" pitchFamily="34" charset="-122"/>
                <a:cs typeface="Courier New" pitchFamily="34" charset="-120"/>
              </a:rPr>
              <a:t>The deep learning model WE BUILT identifies what type of paper this is.</a:t>
            </a:r>
            <a:endParaRPr lang="en-US" sz="750" dirty="0"/>
          </a:p>
        </p:txBody>
      </p:sp>
      <p:sp>
        <p:nvSpPr>
          <p:cNvPr id="22" name="Text 20"/>
          <p:cNvSpPr/>
          <p:nvPr/>
        </p:nvSpPr>
        <p:spPr>
          <a:xfrm>
            <a:off x="3767328" y="2834640"/>
            <a:ext cx="201168" cy="228600"/>
          </a:xfrm>
          <a:prstGeom prst="rect">
            <a:avLst/>
          </a:prstGeom>
          <a:noFill/>
          <a:ln/>
        </p:spPr>
        <p:txBody>
          <a:bodyPr wrap="square" rtlCol="0" anchor="ctr"/>
          <a:lstStyle/>
          <a:p>
            <a:pPr algn="ctr" indent="0" marL="0">
              <a:buNone/>
            </a:pPr>
            <a:r>
              <a:rPr lang="en-US" sz="1200" dirty="0">
                <a:solidFill>
                  <a:srgbClr val="D4CFC8"/>
                </a:solidFill>
                <a:latin typeface="Georgia" pitchFamily="34" charset="0"/>
                <a:ea typeface="Georgia" pitchFamily="34" charset="-122"/>
                <a:cs typeface="Georgia" pitchFamily="34" charset="-120"/>
              </a:rPr>
              <a:t>→</a:t>
            </a:r>
            <a:endParaRPr lang="en-US" sz="1200" dirty="0"/>
          </a:p>
        </p:txBody>
      </p:sp>
      <p:sp>
        <p:nvSpPr>
          <p:cNvPr id="23" name="Shape 21"/>
          <p:cNvSpPr/>
          <p:nvPr/>
        </p:nvSpPr>
        <p:spPr>
          <a:xfrm>
            <a:off x="3931920" y="1417320"/>
            <a:ext cx="1600200" cy="3291840"/>
          </a:xfrm>
          <a:prstGeom prst="rect">
            <a:avLst/>
          </a:prstGeom>
          <a:solidFill>
            <a:srgbClr val="E8E4DE"/>
          </a:solidFill>
          <a:ln w="12700">
            <a:solidFill>
              <a:srgbClr val="D4CFC8"/>
            </a:solidFill>
            <a:prstDash val="solid"/>
          </a:ln>
        </p:spPr>
      </p:sp>
      <p:sp>
        <p:nvSpPr>
          <p:cNvPr id="24" name="Shape 22"/>
          <p:cNvSpPr/>
          <p:nvPr/>
        </p:nvSpPr>
        <p:spPr>
          <a:xfrm>
            <a:off x="3931920" y="1417320"/>
            <a:ext cx="1600200" cy="54864"/>
          </a:xfrm>
          <a:prstGeom prst="rect">
            <a:avLst/>
          </a:prstGeom>
          <a:solidFill>
            <a:srgbClr val="7B4F2E"/>
          </a:solidFill>
          <a:ln w="12700">
            <a:solidFill>
              <a:srgbClr val="7B4F2E"/>
            </a:solidFill>
            <a:prstDash val="solid"/>
          </a:ln>
        </p:spPr>
      </p:sp>
      <p:sp>
        <p:nvSpPr>
          <p:cNvPr id="25" name="Text 23"/>
          <p:cNvSpPr/>
          <p:nvPr/>
        </p:nvSpPr>
        <p:spPr>
          <a:xfrm>
            <a:off x="4041648" y="1572768"/>
            <a:ext cx="1371600" cy="347472"/>
          </a:xfrm>
          <a:prstGeom prst="rect">
            <a:avLst/>
          </a:prstGeom>
          <a:noFill/>
          <a:ln/>
        </p:spPr>
        <p:txBody>
          <a:bodyPr wrap="square" rtlCol="0" anchor="ctr"/>
          <a:lstStyle/>
          <a:p>
            <a:pPr indent="0" marL="0">
              <a:buNone/>
            </a:pPr>
            <a:r>
              <a:rPr lang="en-US" sz="2200" dirty="0">
                <a:solidFill>
                  <a:srgbClr val="7B4F2E"/>
                </a:solidFill>
                <a:latin typeface="Courier New" pitchFamily="34" charset="0"/>
                <a:ea typeface="Courier New" pitchFamily="34" charset="-122"/>
                <a:cs typeface="Courier New" pitchFamily="34" charset="-120"/>
              </a:rPr>
              <a:t>03</a:t>
            </a:r>
            <a:endParaRPr lang="en-US" sz="2200" dirty="0"/>
          </a:p>
        </p:txBody>
      </p:sp>
      <p:sp>
        <p:nvSpPr>
          <p:cNvPr id="26" name="Text 24"/>
          <p:cNvSpPr/>
          <p:nvPr/>
        </p:nvSpPr>
        <p:spPr>
          <a:xfrm>
            <a:off x="4041648" y="1965960"/>
            <a:ext cx="1371600" cy="457200"/>
          </a:xfrm>
          <a:prstGeom prst="rect">
            <a:avLst/>
          </a:prstGeom>
          <a:noFill/>
          <a:ln/>
        </p:spPr>
        <p:txBody>
          <a:bodyPr wrap="square" rtlCol="0" anchor="ctr"/>
          <a:lstStyle/>
          <a:p>
            <a:pPr indent="0" marL="0">
              <a:lnSpc>
                <a:spcPct val="120000"/>
              </a:lnSpc>
              <a:buNone/>
            </a:pPr>
            <a:r>
              <a:rPr lang="en-US" sz="1100" dirty="0">
                <a:solidFill>
                  <a:srgbClr val="1C1917"/>
                </a:solidFill>
                <a:latin typeface="Georgia" pitchFamily="34" charset="0"/>
                <a:ea typeface="Georgia" pitchFamily="34" charset="-122"/>
                <a:cs typeface="Georgia" pitchFamily="34" charset="-120"/>
              </a:rPr>
              <a:t>Human Checkpoint</a:t>
            </a:r>
            <a:endParaRPr lang="en-US" sz="1100" dirty="0"/>
          </a:p>
        </p:txBody>
      </p:sp>
      <p:sp>
        <p:nvSpPr>
          <p:cNvPr id="27" name="Shape 25"/>
          <p:cNvSpPr/>
          <p:nvPr/>
        </p:nvSpPr>
        <p:spPr>
          <a:xfrm>
            <a:off x="4041648" y="2468880"/>
            <a:ext cx="1371600" cy="0"/>
          </a:xfrm>
          <a:prstGeom prst="line">
            <a:avLst/>
          </a:prstGeom>
          <a:noFill/>
          <a:ln w="6350">
            <a:solidFill>
              <a:srgbClr val="D4CFC8"/>
            </a:solidFill>
            <a:prstDash val="solid"/>
          </a:ln>
        </p:spPr>
      </p:sp>
      <p:sp>
        <p:nvSpPr>
          <p:cNvPr id="28" name="Text 26"/>
          <p:cNvSpPr/>
          <p:nvPr/>
        </p:nvSpPr>
        <p:spPr>
          <a:xfrm>
            <a:off x="4041648" y="2542032"/>
            <a:ext cx="1371600" cy="1188720"/>
          </a:xfrm>
          <a:prstGeom prst="rect">
            <a:avLst/>
          </a:prstGeom>
          <a:noFill/>
          <a:ln/>
        </p:spPr>
        <p:txBody>
          <a:bodyPr wrap="square" rtlCol="0" anchor="ctr"/>
          <a:lstStyle/>
          <a:p>
            <a:pPr indent="0" marL="0">
              <a:lnSpc>
                <a:spcPct val="150000"/>
              </a:lnSpc>
              <a:buNone/>
            </a:pPr>
            <a:r>
              <a:rPr lang="en-US" sz="800" dirty="0">
                <a:solidFill>
                  <a:srgbClr val="8C8680"/>
                </a:solidFill>
                <a:latin typeface="Courier New" pitchFamily="34" charset="0"/>
                <a:ea typeface="Courier New" pitchFamily="34" charset="-122"/>
                <a:cs typeface="Courier New" pitchFamily="34" charset="-120"/>
              </a:rPr>
              <a:t>Pipeline STOPS. Human approves before any agent runs. Critical decision point.</a:t>
            </a:r>
            <a:endParaRPr lang="en-US" sz="800" dirty="0"/>
          </a:p>
        </p:txBody>
      </p:sp>
      <p:sp>
        <p:nvSpPr>
          <p:cNvPr id="29" name="Shape 27"/>
          <p:cNvSpPr/>
          <p:nvPr/>
        </p:nvSpPr>
        <p:spPr>
          <a:xfrm>
            <a:off x="4041648" y="3794760"/>
            <a:ext cx="1371600" cy="0"/>
          </a:xfrm>
          <a:prstGeom prst="line">
            <a:avLst/>
          </a:prstGeom>
          <a:noFill/>
          <a:ln w="6350">
            <a:solidFill>
              <a:srgbClr val="D4CFC8"/>
            </a:solidFill>
            <a:prstDash val="solid"/>
          </a:ln>
        </p:spPr>
      </p:sp>
      <p:sp>
        <p:nvSpPr>
          <p:cNvPr id="30" name="Text 28"/>
          <p:cNvSpPr/>
          <p:nvPr/>
        </p:nvSpPr>
        <p:spPr>
          <a:xfrm>
            <a:off x="4041648" y="3858768"/>
            <a:ext cx="1371600" cy="777240"/>
          </a:xfrm>
          <a:prstGeom prst="rect">
            <a:avLst/>
          </a:prstGeom>
          <a:noFill/>
          <a:ln/>
        </p:spPr>
        <p:txBody>
          <a:bodyPr wrap="square" rtlCol="0" anchor="ctr"/>
          <a:lstStyle/>
          <a:p>
            <a:pPr indent="0" marL="0">
              <a:lnSpc>
                <a:spcPct val="140000"/>
              </a:lnSpc>
              <a:buNone/>
            </a:pPr>
            <a:r>
              <a:rPr lang="en-US" sz="750" dirty="0">
                <a:solidFill>
                  <a:srgbClr val="7B4F2E"/>
                </a:solidFill>
                <a:latin typeface="Courier New" pitchFamily="34" charset="0"/>
                <a:ea typeface="Courier New" pitchFamily="34" charset="-122"/>
                <a:cs typeface="Courier New" pitchFamily="34" charset="-120"/>
              </a:rPr>
              <a:t>YOU decide whether to continue. If the field is wrong, nothing after it works.</a:t>
            </a:r>
            <a:endParaRPr lang="en-US" sz="750" dirty="0"/>
          </a:p>
        </p:txBody>
      </p:sp>
      <p:sp>
        <p:nvSpPr>
          <p:cNvPr id="31" name="Text 29"/>
          <p:cNvSpPr/>
          <p:nvPr/>
        </p:nvSpPr>
        <p:spPr>
          <a:xfrm>
            <a:off x="5504688" y="2834640"/>
            <a:ext cx="201168" cy="228600"/>
          </a:xfrm>
          <a:prstGeom prst="rect">
            <a:avLst/>
          </a:prstGeom>
          <a:noFill/>
          <a:ln/>
        </p:spPr>
        <p:txBody>
          <a:bodyPr wrap="square" rtlCol="0" anchor="ctr"/>
          <a:lstStyle/>
          <a:p>
            <a:pPr algn="ctr" indent="0" marL="0">
              <a:buNone/>
            </a:pPr>
            <a:r>
              <a:rPr lang="en-US" sz="1200" dirty="0">
                <a:solidFill>
                  <a:srgbClr val="D4CFC8"/>
                </a:solidFill>
                <a:latin typeface="Georgia" pitchFamily="34" charset="0"/>
                <a:ea typeface="Georgia" pitchFamily="34" charset="-122"/>
                <a:cs typeface="Georgia" pitchFamily="34" charset="-120"/>
              </a:rPr>
              <a:t>→</a:t>
            </a:r>
            <a:endParaRPr lang="en-US" sz="1200" dirty="0"/>
          </a:p>
        </p:txBody>
      </p:sp>
      <p:sp>
        <p:nvSpPr>
          <p:cNvPr id="32" name="Shape 30"/>
          <p:cNvSpPr/>
          <p:nvPr/>
        </p:nvSpPr>
        <p:spPr>
          <a:xfrm>
            <a:off x="5669280" y="1417320"/>
            <a:ext cx="1600200" cy="3291840"/>
          </a:xfrm>
          <a:prstGeom prst="rect">
            <a:avLst/>
          </a:prstGeom>
          <a:solidFill>
            <a:srgbClr val="FFFFFF"/>
          </a:solidFill>
          <a:ln w="12700">
            <a:solidFill>
              <a:srgbClr val="D4CFC8"/>
            </a:solidFill>
            <a:prstDash val="solid"/>
          </a:ln>
        </p:spPr>
      </p:sp>
      <p:sp>
        <p:nvSpPr>
          <p:cNvPr id="33" name="Shape 31"/>
          <p:cNvSpPr/>
          <p:nvPr/>
        </p:nvSpPr>
        <p:spPr>
          <a:xfrm>
            <a:off x="5669280" y="1417320"/>
            <a:ext cx="1600200" cy="54864"/>
          </a:xfrm>
          <a:prstGeom prst="rect">
            <a:avLst/>
          </a:prstGeom>
          <a:solidFill>
            <a:srgbClr val="2D5016"/>
          </a:solidFill>
          <a:ln w="12700">
            <a:solidFill>
              <a:srgbClr val="2D5016"/>
            </a:solidFill>
            <a:prstDash val="solid"/>
          </a:ln>
        </p:spPr>
      </p:sp>
      <p:sp>
        <p:nvSpPr>
          <p:cNvPr id="34" name="Text 32"/>
          <p:cNvSpPr/>
          <p:nvPr/>
        </p:nvSpPr>
        <p:spPr>
          <a:xfrm>
            <a:off x="5779008" y="1572768"/>
            <a:ext cx="1371600" cy="347472"/>
          </a:xfrm>
          <a:prstGeom prst="rect">
            <a:avLst/>
          </a:prstGeom>
          <a:noFill/>
          <a:ln/>
        </p:spPr>
        <p:txBody>
          <a:bodyPr wrap="square" rtlCol="0" anchor="ctr"/>
          <a:lstStyle/>
          <a:p>
            <a:pPr indent="0" marL="0">
              <a:buNone/>
            </a:pPr>
            <a:r>
              <a:rPr lang="en-US" sz="2200" dirty="0">
                <a:solidFill>
                  <a:srgbClr val="2D5016"/>
                </a:solidFill>
                <a:latin typeface="Courier New" pitchFamily="34" charset="0"/>
                <a:ea typeface="Courier New" pitchFamily="34" charset="-122"/>
                <a:cs typeface="Courier New" pitchFamily="34" charset="-120"/>
              </a:rPr>
              <a:t>04</a:t>
            </a:r>
            <a:endParaRPr lang="en-US" sz="2200" dirty="0"/>
          </a:p>
        </p:txBody>
      </p:sp>
      <p:sp>
        <p:nvSpPr>
          <p:cNvPr id="35" name="Text 33"/>
          <p:cNvSpPr/>
          <p:nvPr/>
        </p:nvSpPr>
        <p:spPr>
          <a:xfrm>
            <a:off x="5779008" y="1965960"/>
            <a:ext cx="1371600" cy="457200"/>
          </a:xfrm>
          <a:prstGeom prst="rect">
            <a:avLst/>
          </a:prstGeom>
          <a:noFill/>
          <a:ln/>
        </p:spPr>
        <p:txBody>
          <a:bodyPr wrap="square" rtlCol="0" anchor="ctr"/>
          <a:lstStyle/>
          <a:p>
            <a:pPr indent="0" marL="0">
              <a:lnSpc>
                <a:spcPct val="120000"/>
              </a:lnSpc>
              <a:buNone/>
            </a:pPr>
            <a:r>
              <a:rPr lang="en-US" sz="1100" dirty="0">
                <a:solidFill>
                  <a:srgbClr val="1C1917"/>
                </a:solidFill>
                <a:latin typeface="Georgia" pitchFamily="34" charset="0"/>
                <a:ea typeface="Georgia" pitchFamily="34" charset="-122"/>
                <a:cs typeface="Georgia" pitchFamily="34" charset="-120"/>
              </a:rPr>
              <a:t>Semantic Scholar</a:t>
            </a:r>
            <a:endParaRPr lang="en-US" sz="1100" dirty="0"/>
          </a:p>
        </p:txBody>
      </p:sp>
      <p:sp>
        <p:nvSpPr>
          <p:cNvPr id="36" name="Shape 34"/>
          <p:cNvSpPr/>
          <p:nvPr/>
        </p:nvSpPr>
        <p:spPr>
          <a:xfrm>
            <a:off x="5779008" y="2468880"/>
            <a:ext cx="1371600" cy="0"/>
          </a:xfrm>
          <a:prstGeom prst="line">
            <a:avLst/>
          </a:prstGeom>
          <a:noFill/>
          <a:ln w="6350">
            <a:solidFill>
              <a:srgbClr val="D4CFC8"/>
            </a:solidFill>
            <a:prstDash val="solid"/>
          </a:ln>
        </p:spPr>
      </p:sp>
      <p:sp>
        <p:nvSpPr>
          <p:cNvPr id="37" name="Text 35"/>
          <p:cNvSpPr/>
          <p:nvPr/>
        </p:nvSpPr>
        <p:spPr>
          <a:xfrm>
            <a:off x="5779008" y="2542032"/>
            <a:ext cx="1371600" cy="1188720"/>
          </a:xfrm>
          <a:prstGeom prst="rect">
            <a:avLst/>
          </a:prstGeom>
          <a:noFill/>
          <a:ln/>
        </p:spPr>
        <p:txBody>
          <a:bodyPr wrap="square" rtlCol="0" anchor="ctr"/>
          <a:lstStyle/>
          <a:p>
            <a:pPr indent="0" marL="0">
              <a:lnSpc>
                <a:spcPct val="150000"/>
              </a:lnSpc>
              <a:buNone/>
            </a:pPr>
            <a:r>
              <a:rPr lang="en-US" sz="800" dirty="0">
                <a:solidFill>
                  <a:srgbClr val="8C8680"/>
                </a:solidFill>
                <a:latin typeface="Courier New" pitchFamily="34" charset="0"/>
                <a:ea typeface="Courier New" pitchFamily="34" charset="-122"/>
                <a:cs typeface="Courier New" pitchFamily="34" charset="-120"/>
              </a:rPr>
              <a:t>Searches 200 million academic papers. Finds related work and citation data.</a:t>
            </a:r>
            <a:endParaRPr lang="en-US" sz="800" dirty="0"/>
          </a:p>
        </p:txBody>
      </p:sp>
      <p:sp>
        <p:nvSpPr>
          <p:cNvPr id="38" name="Shape 36"/>
          <p:cNvSpPr/>
          <p:nvPr/>
        </p:nvSpPr>
        <p:spPr>
          <a:xfrm>
            <a:off x="5779008" y="3794760"/>
            <a:ext cx="1371600" cy="0"/>
          </a:xfrm>
          <a:prstGeom prst="line">
            <a:avLst/>
          </a:prstGeom>
          <a:noFill/>
          <a:ln w="6350">
            <a:solidFill>
              <a:srgbClr val="D4CFC8"/>
            </a:solidFill>
            <a:prstDash val="solid"/>
          </a:ln>
        </p:spPr>
      </p:sp>
      <p:sp>
        <p:nvSpPr>
          <p:cNvPr id="39" name="Text 37"/>
          <p:cNvSpPr/>
          <p:nvPr/>
        </p:nvSpPr>
        <p:spPr>
          <a:xfrm>
            <a:off x="5779008" y="3858768"/>
            <a:ext cx="1371600" cy="777240"/>
          </a:xfrm>
          <a:prstGeom prst="rect">
            <a:avLst/>
          </a:prstGeom>
          <a:noFill/>
          <a:ln/>
        </p:spPr>
        <p:txBody>
          <a:bodyPr wrap="square" rtlCol="0" anchor="ctr"/>
          <a:lstStyle/>
          <a:p>
            <a:pPr indent="0" marL="0">
              <a:lnSpc>
                <a:spcPct val="140000"/>
              </a:lnSpc>
              <a:buNone/>
            </a:pPr>
            <a:r>
              <a:rPr lang="en-US" sz="750" dirty="0">
                <a:solidFill>
                  <a:srgbClr val="2D5016"/>
                </a:solidFill>
                <a:latin typeface="Courier New" pitchFamily="34" charset="0"/>
                <a:ea typeface="Courier New" pitchFamily="34" charset="-122"/>
                <a:cs typeface="Courier New" pitchFamily="34" charset="-120"/>
              </a:rPr>
              <a:t>Real external database — not made up. Free API.</a:t>
            </a:r>
            <a:endParaRPr lang="en-US" sz="750" dirty="0"/>
          </a:p>
        </p:txBody>
      </p:sp>
      <p:sp>
        <p:nvSpPr>
          <p:cNvPr id="40" name="Text 38"/>
          <p:cNvSpPr/>
          <p:nvPr/>
        </p:nvSpPr>
        <p:spPr>
          <a:xfrm>
            <a:off x="7242048" y="2834640"/>
            <a:ext cx="201168" cy="228600"/>
          </a:xfrm>
          <a:prstGeom prst="rect">
            <a:avLst/>
          </a:prstGeom>
          <a:noFill/>
          <a:ln/>
        </p:spPr>
        <p:txBody>
          <a:bodyPr wrap="square" rtlCol="0" anchor="ctr"/>
          <a:lstStyle/>
          <a:p>
            <a:pPr algn="ctr" indent="0" marL="0">
              <a:buNone/>
            </a:pPr>
            <a:r>
              <a:rPr lang="en-US" sz="1200" dirty="0">
                <a:solidFill>
                  <a:srgbClr val="D4CFC8"/>
                </a:solidFill>
                <a:latin typeface="Georgia" pitchFamily="34" charset="0"/>
                <a:ea typeface="Georgia" pitchFamily="34" charset="-122"/>
                <a:cs typeface="Georgia" pitchFamily="34" charset="-120"/>
              </a:rPr>
              <a:t>→</a:t>
            </a:r>
            <a:endParaRPr lang="en-US" sz="1200" dirty="0"/>
          </a:p>
        </p:txBody>
      </p:sp>
      <p:sp>
        <p:nvSpPr>
          <p:cNvPr id="41" name="Shape 39"/>
          <p:cNvSpPr/>
          <p:nvPr/>
        </p:nvSpPr>
        <p:spPr>
          <a:xfrm>
            <a:off x="7406640" y="1417320"/>
            <a:ext cx="1600200" cy="3291840"/>
          </a:xfrm>
          <a:prstGeom prst="rect">
            <a:avLst/>
          </a:prstGeom>
          <a:solidFill>
            <a:srgbClr val="E8E4DE"/>
          </a:solidFill>
          <a:ln w="12700">
            <a:solidFill>
              <a:srgbClr val="D4CFC8"/>
            </a:solidFill>
            <a:prstDash val="solid"/>
          </a:ln>
        </p:spPr>
      </p:sp>
      <p:sp>
        <p:nvSpPr>
          <p:cNvPr id="42" name="Shape 40"/>
          <p:cNvSpPr/>
          <p:nvPr/>
        </p:nvSpPr>
        <p:spPr>
          <a:xfrm>
            <a:off x="7406640" y="1417320"/>
            <a:ext cx="1600200" cy="54864"/>
          </a:xfrm>
          <a:prstGeom prst="rect">
            <a:avLst/>
          </a:prstGeom>
          <a:solidFill>
            <a:srgbClr val="4C2D80"/>
          </a:solidFill>
          <a:ln w="12700">
            <a:solidFill>
              <a:srgbClr val="4C2D80"/>
            </a:solidFill>
            <a:prstDash val="solid"/>
          </a:ln>
        </p:spPr>
      </p:sp>
      <p:sp>
        <p:nvSpPr>
          <p:cNvPr id="43" name="Text 41"/>
          <p:cNvSpPr/>
          <p:nvPr/>
        </p:nvSpPr>
        <p:spPr>
          <a:xfrm>
            <a:off x="7516368" y="1572768"/>
            <a:ext cx="1371600" cy="347472"/>
          </a:xfrm>
          <a:prstGeom prst="rect">
            <a:avLst/>
          </a:prstGeom>
          <a:noFill/>
          <a:ln/>
        </p:spPr>
        <p:txBody>
          <a:bodyPr wrap="square" rtlCol="0" anchor="ctr"/>
          <a:lstStyle/>
          <a:p>
            <a:pPr indent="0" marL="0">
              <a:buNone/>
            </a:pPr>
            <a:r>
              <a:rPr lang="en-US" sz="2200" dirty="0">
                <a:solidFill>
                  <a:srgbClr val="4C2D80"/>
                </a:solidFill>
                <a:latin typeface="Courier New" pitchFamily="34" charset="0"/>
                <a:ea typeface="Courier New" pitchFamily="34" charset="-122"/>
                <a:cs typeface="Courier New" pitchFamily="34" charset="-120"/>
              </a:rPr>
              <a:t>05</a:t>
            </a:r>
            <a:endParaRPr lang="en-US" sz="2200" dirty="0"/>
          </a:p>
        </p:txBody>
      </p:sp>
      <p:sp>
        <p:nvSpPr>
          <p:cNvPr id="44" name="Text 42"/>
          <p:cNvSpPr/>
          <p:nvPr/>
        </p:nvSpPr>
        <p:spPr>
          <a:xfrm>
            <a:off x="7516368" y="1965960"/>
            <a:ext cx="1371600" cy="457200"/>
          </a:xfrm>
          <a:prstGeom prst="rect">
            <a:avLst/>
          </a:prstGeom>
          <a:noFill/>
          <a:ln/>
        </p:spPr>
        <p:txBody>
          <a:bodyPr wrap="square" rtlCol="0" anchor="ctr"/>
          <a:lstStyle/>
          <a:p>
            <a:pPr indent="0" marL="0">
              <a:lnSpc>
                <a:spcPct val="120000"/>
              </a:lnSpc>
              <a:buNone/>
            </a:pPr>
            <a:r>
              <a:rPr lang="en-US" sz="1100" dirty="0">
                <a:solidFill>
                  <a:srgbClr val="1C1917"/>
                </a:solidFill>
                <a:latin typeface="Georgia" pitchFamily="34" charset="0"/>
                <a:ea typeface="Georgia" pitchFamily="34" charset="-122"/>
                <a:cs typeface="Georgia" pitchFamily="34" charset="-120"/>
              </a:rPr>
              <a:t>4-Agent Crew</a:t>
            </a:r>
            <a:endParaRPr lang="en-US" sz="1100" dirty="0"/>
          </a:p>
        </p:txBody>
      </p:sp>
      <p:sp>
        <p:nvSpPr>
          <p:cNvPr id="45" name="Shape 43"/>
          <p:cNvSpPr/>
          <p:nvPr/>
        </p:nvSpPr>
        <p:spPr>
          <a:xfrm>
            <a:off x="7516368" y="2468880"/>
            <a:ext cx="1371600" cy="0"/>
          </a:xfrm>
          <a:prstGeom prst="line">
            <a:avLst/>
          </a:prstGeom>
          <a:noFill/>
          <a:ln w="6350">
            <a:solidFill>
              <a:srgbClr val="D4CFC8"/>
            </a:solidFill>
            <a:prstDash val="solid"/>
          </a:ln>
        </p:spPr>
      </p:sp>
      <p:sp>
        <p:nvSpPr>
          <p:cNvPr id="46" name="Text 44"/>
          <p:cNvSpPr/>
          <p:nvPr/>
        </p:nvSpPr>
        <p:spPr>
          <a:xfrm>
            <a:off x="7516368" y="2542032"/>
            <a:ext cx="1371600" cy="1188720"/>
          </a:xfrm>
          <a:prstGeom prst="rect">
            <a:avLst/>
          </a:prstGeom>
          <a:noFill/>
          <a:ln/>
        </p:spPr>
        <p:txBody>
          <a:bodyPr wrap="square" rtlCol="0" anchor="ctr"/>
          <a:lstStyle/>
          <a:p>
            <a:pPr indent="0" marL="0">
              <a:lnSpc>
                <a:spcPct val="150000"/>
              </a:lnSpc>
              <a:buNone/>
            </a:pPr>
            <a:r>
              <a:rPr lang="en-US" sz="800" dirty="0">
                <a:solidFill>
                  <a:srgbClr val="8C8680"/>
                </a:solidFill>
                <a:latin typeface="Courier New" pitchFamily="34" charset="0"/>
                <a:ea typeface="Courier New" pitchFamily="34" charset="-122"/>
                <a:cs typeface="Courier New" pitchFamily="34" charset="-120"/>
              </a:rPr>
              <a:t>Four agents run one after another. Each passes results to the next.</a:t>
            </a:r>
            <a:endParaRPr lang="en-US" sz="800" dirty="0"/>
          </a:p>
        </p:txBody>
      </p:sp>
      <p:sp>
        <p:nvSpPr>
          <p:cNvPr id="47" name="Shape 45"/>
          <p:cNvSpPr/>
          <p:nvPr/>
        </p:nvSpPr>
        <p:spPr>
          <a:xfrm>
            <a:off x="7516368" y="3794760"/>
            <a:ext cx="1371600" cy="0"/>
          </a:xfrm>
          <a:prstGeom prst="line">
            <a:avLst/>
          </a:prstGeom>
          <a:noFill/>
          <a:ln w="6350">
            <a:solidFill>
              <a:srgbClr val="D4CFC8"/>
            </a:solidFill>
            <a:prstDash val="solid"/>
          </a:ln>
        </p:spPr>
      </p:sp>
      <p:sp>
        <p:nvSpPr>
          <p:cNvPr id="48" name="Text 46"/>
          <p:cNvSpPr/>
          <p:nvPr/>
        </p:nvSpPr>
        <p:spPr>
          <a:xfrm>
            <a:off x="7516368" y="3858768"/>
            <a:ext cx="1371600" cy="777240"/>
          </a:xfrm>
          <a:prstGeom prst="rect">
            <a:avLst/>
          </a:prstGeom>
          <a:noFill/>
          <a:ln/>
        </p:spPr>
        <p:txBody>
          <a:bodyPr wrap="square" rtlCol="0" anchor="ctr"/>
          <a:lstStyle/>
          <a:p>
            <a:pPr indent="0" marL="0">
              <a:lnSpc>
                <a:spcPct val="140000"/>
              </a:lnSpc>
              <a:buNone/>
            </a:pPr>
            <a:r>
              <a:rPr lang="en-US" sz="750" dirty="0">
                <a:solidFill>
                  <a:srgbClr val="4C2D80"/>
                </a:solidFill>
                <a:latin typeface="Courier New" pitchFamily="34" charset="0"/>
                <a:ea typeface="Courier New" pitchFamily="34" charset="-122"/>
                <a:cs typeface="Courier New" pitchFamily="34" charset="-120"/>
              </a:rPr>
              <a:t>The AI team that writes the actual review.</a:t>
            </a:r>
            <a:endParaRPr lang="en-US" sz="750" dirty="0"/>
          </a:p>
        </p:txBody>
      </p:sp>
      <p:sp>
        <p:nvSpPr>
          <p:cNvPr id="49" name="Shape 47"/>
          <p:cNvSpPr/>
          <p:nvPr/>
        </p:nvSpPr>
        <p:spPr>
          <a:xfrm>
            <a:off x="457200" y="4736592"/>
            <a:ext cx="8229600" cy="0"/>
          </a:xfrm>
          <a:prstGeom prst="line">
            <a:avLst/>
          </a:prstGeom>
          <a:noFill/>
          <a:ln w="6350">
            <a:solidFill>
              <a:srgbClr val="D4CFC8"/>
            </a:solidFill>
            <a:prstDash val="solid"/>
          </a:ln>
        </p:spPr>
      </p:sp>
      <p:sp>
        <p:nvSpPr>
          <p:cNvPr id="50" name="Text 48"/>
          <p:cNvSpPr/>
          <p:nvPr/>
        </p:nvSpPr>
        <p:spPr>
          <a:xfrm>
            <a:off x="457200" y="4800600"/>
            <a:ext cx="8229600" cy="201168"/>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Output: JSON report + Markdown peer review → saved to outputs/</a:t>
            </a:r>
            <a:endParaRPr lang="en-US" sz="800" dirty="0"/>
          </a:p>
        </p:txBody>
      </p:sp>
      <p:sp>
        <p:nvSpPr>
          <p:cNvPr id="51" name="Text 49"/>
          <p:cNvSpPr/>
          <p:nvPr/>
        </p:nvSpPr>
        <p:spPr>
          <a:xfrm>
            <a:off x="8046720" y="4892040"/>
            <a:ext cx="914400" cy="182880"/>
          </a:xfrm>
          <a:prstGeom prst="rect">
            <a:avLst/>
          </a:prstGeom>
          <a:noFill/>
          <a:ln/>
        </p:spPr>
        <p:txBody>
          <a:bodyPr wrap="square" rtlCol="0" anchor="ctr"/>
          <a:lstStyle/>
          <a:p>
            <a:pPr algn="r" indent="0" marL="0">
              <a:buNone/>
            </a:pPr>
            <a:r>
              <a:rPr lang="en-US" sz="800" dirty="0">
                <a:solidFill>
                  <a:srgbClr val="D4CFC8"/>
                </a:solidFill>
                <a:latin typeface="Courier New" pitchFamily="34" charset="0"/>
                <a:ea typeface="Courier New" pitchFamily="34" charset="-122"/>
                <a:cs typeface="Courier New" pitchFamily="34" charset="-120"/>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5669280" y="0"/>
            <a:ext cx="3474720" cy="5143500"/>
          </a:xfrm>
          <a:prstGeom prst="rect">
            <a:avLst/>
          </a:prstGeom>
          <a:solidFill>
            <a:srgbClr val="FAF7F2"/>
          </a:solidFill>
          <a:ln w="12700">
            <a:solidFill>
              <a:srgbClr val="FAF7F2"/>
            </a:solidFill>
            <a:prstDash val="solid"/>
          </a:ln>
        </p:spPr>
      </p:sp>
      <p:sp>
        <p:nvSpPr>
          <p:cNvPr id="3" name="Text 1"/>
          <p:cNvSpPr/>
          <p:nvPr/>
        </p:nvSpPr>
        <p:spPr>
          <a:xfrm>
            <a:off x="457200" y="320040"/>
            <a:ext cx="502920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03 — DEEP LEARNING MODEL</a:t>
            </a:r>
            <a:endParaRPr lang="en-US" sz="800" dirty="0"/>
          </a:p>
        </p:txBody>
      </p:sp>
      <p:sp>
        <p:nvSpPr>
          <p:cNvPr id="4" name="Shape 2"/>
          <p:cNvSpPr/>
          <p:nvPr/>
        </p:nvSpPr>
        <p:spPr>
          <a:xfrm>
            <a:off x="457200" y="548640"/>
            <a:ext cx="5029200" cy="0"/>
          </a:xfrm>
          <a:prstGeom prst="line">
            <a:avLst/>
          </a:prstGeom>
          <a:noFill/>
          <a:ln w="6350">
            <a:solidFill>
              <a:srgbClr val="3A3530"/>
            </a:solidFill>
            <a:prstDash val="solid"/>
          </a:ln>
        </p:spPr>
      </p:sp>
      <p:sp>
        <p:nvSpPr>
          <p:cNvPr id="5" name="Text 3"/>
          <p:cNvSpPr/>
          <p:nvPr/>
        </p:nvSpPr>
        <p:spPr>
          <a:xfrm>
            <a:off x="457200" y="685800"/>
            <a:ext cx="5029200" cy="594360"/>
          </a:xfrm>
          <a:prstGeom prst="rect">
            <a:avLst/>
          </a:prstGeom>
          <a:noFill/>
          <a:ln/>
        </p:spPr>
        <p:txBody>
          <a:bodyPr wrap="square" rtlCol="0" anchor="ctr"/>
          <a:lstStyle/>
          <a:p>
            <a:pPr indent="0" marL="0">
              <a:buNone/>
            </a:pPr>
            <a:r>
              <a:rPr lang="en-US" sz="4200" dirty="0">
                <a:solidFill>
                  <a:srgbClr val="FAF7F2"/>
                </a:solidFill>
                <a:latin typeface="Georgia" pitchFamily="34" charset="0"/>
                <a:ea typeface="Georgia" pitchFamily="34" charset="-122"/>
                <a:cs typeface="Georgia" pitchFamily="34" charset="-120"/>
              </a:rPr>
              <a:t>TextCNN</a:t>
            </a:r>
            <a:endParaRPr lang="en-US" sz="4200" dirty="0"/>
          </a:p>
        </p:txBody>
      </p:sp>
      <p:sp>
        <p:nvSpPr>
          <p:cNvPr id="6" name="Text 4"/>
          <p:cNvSpPr/>
          <p:nvPr/>
        </p:nvSpPr>
        <p:spPr>
          <a:xfrm>
            <a:off x="457200" y="1298448"/>
            <a:ext cx="5029200" cy="256032"/>
          </a:xfrm>
          <a:prstGeom prst="rect">
            <a:avLst/>
          </a:prstGeom>
          <a:noFill/>
          <a:ln/>
        </p:spPr>
        <p:txBody>
          <a:bodyPr wrap="square" rtlCol="0" anchor="ctr"/>
          <a:lstStyle/>
          <a:p>
            <a:pPr indent="0" marL="0">
              <a:buNone/>
            </a:pPr>
            <a:r>
              <a:rPr lang="en-US" sz="800" spc="200" kern="0" dirty="0">
                <a:solidFill>
                  <a:srgbClr val="8C8680"/>
                </a:solidFill>
                <a:latin typeface="Courier New" pitchFamily="34" charset="0"/>
                <a:ea typeface="Courier New" pitchFamily="34" charset="-122"/>
                <a:cs typeface="Courier New" pitchFamily="34" charset="-120"/>
              </a:rPr>
              <a:t>built from scratch · PyTorch · 4M+ parameters</a:t>
            </a:r>
            <a:endParaRPr lang="en-US" sz="800" dirty="0"/>
          </a:p>
        </p:txBody>
      </p:sp>
      <p:sp>
        <p:nvSpPr>
          <p:cNvPr id="7" name="Shape 5"/>
          <p:cNvSpPr/>
          <p:nvPr/>
        </p:nvSpPr>
        <p:spPr>
          <a:xfrm>
            <a:off x="457200" y="1691640"/>
            <a:ext cx="5074920" cy="402336"/>
          </a:xfrm>
          <a:prstGeom prst="rect">
            <a:avLst/>
          </a:prstGeom>
          <a:solidFill>
            <a:srgbClr val="252119"/>
          </a:solidFill>
          <a:ln w="12700">
            <a:solidFill>
              <a:srgbClr val="3A3530"/>
            </a:solidFill>
            <a:prstDash val="solid"/>
          </a:ln>
        </p:spPr>
      </p:sp>
      <p:sp>
        <p:nvSpPr>
          <p:cNvPr id="8" name="Text 6"/>
          <p:cNvSpPr/>
          <p:nvPr/>
        </p:nvSpPr>
        <p:spPr>
          <a:xfrm>
            <a:off x="594360" y="1755648"/>
            <a:ext cx="914400" cy="256032"/>
          </a:xfrm>
          <a:prstGeom prst="rect">
            <a:avLst/>
          </a:prstGeom>
          <a:noFill/>
          <a:ln/>
        </p:spPr>
        <p:txBody>
          <a:bodyPr wrap="square" rtlCol="0" anchor="ctr"/>
          <a:lstStyle/>
          <a:p>
            <a:pPr indent="0" marL="0">
              <a:buNone/>
            </a:pPr>
            <a:r>
              <a:rPr lang="en-US" sz="800" dirty="0">
                <a:solidFill>
                  <a:srgbClr val="8C8680"/>
                </a:solidFill>
                <a:latin typeface="Courier-Bold" pitchFamily="34" charset="0"/>
                <a:ea typeface="Courier-Bold" pitchFamily="34" charset="-122"/>
                <a:cs typeface="Courier-Bold" pitchFamily="34" charset="-120"/>
              </a:rPr>
              <a:t>EMBED</a:t>
            </a:r>
            <a:endParaRPr lang="en-US" sz="800" dirty="0"/>
          </a:p>
        </p:txBody>
      </p:sp>
      <p:sp>
        <p:nvSpPr>
          <p:cNvPr id="9" name="Text 7"/>
          <p:cNvSpPr/>
          <p:nvPr/>
        </p:nvSpPr>
        <p:spPr>
          <a:xfrm>
            <a:off x="1600200" y="1755648"/>
            <a:ext cx="3794760" cy="256032"/>
          </a:xfrm>
          <a:prstGeom prst="rect">
            <a:avLst/>
          </a:prstGeom>
          <a:noFill/>
          <a:ln/>
        </p:spPr>
        <p:txBody>
          <a:bodyPr wrap="square" rtlCol="0" anchor="ctr"/>
          <a:lstStyle/>
          <a:p>
            <a:pPr indent="0" marL="0">
              <a:buNone/>
            </a:pPr>
            <a:r>
              <a:rPr lang="en-US" sz="850" dirty="0">
                <a:solidFill>
                  <a:srgbClr val="FAF7F2"/>
                </a:solidFill>
                <a:latin typeface="Courier New" pitchFamily="34" charset="0"/>
                <a:ea typeface="Courier New" pitchFamily="34" charset="-122"/>
                <a:cs typeface="Courier New" pitchFamily="34" charset="-120"/>
              </a:rPr>
              <a:t>Embedding — every word becomes 128 numbers the model understands</a:t>
            </a:r>
            <a:endParaRPr lang="en-US" sz="850" dirty="0"/>
          </a:p>
        </p:txBody>
      </p:sp>
      <p:sp>
        <p:nvSpPr>
          <p:cNvPr id="10" name="Shape 8"/>
          <p:cNvSpPr/>
          <p:nvPr/>
        </p:nvSpPr>
        <p:spPr>
          <a:xfrm>
            <a:off x="457200" y="2194560"/>
            <a:ext cx="5074920" cy="402336"/>
          </a:xfrm>
          <a:prstGeom prst="rect">
            <a:avLst/>
          </a:prstGeom>
          <a:solidFill>
            <a:srgbClr val="1E3A5F"/>
          </a:solidFill>
          <a:ln w="12700">
            <a:solidFill>
              <a:srgbClr val="3A3530"/>
            </a:solidFill>
            <a:prstDash val="solid"/>
          </a:ln>
        </p:spPr>
      </p:sp>
      <p:sp>
        <p:nvSpPr>
          <p:cNvPr id="11" name="Text 9"/>
          <p:cNvSpPr/>
          <p:nvPr/>
        </p:nvSpPr>
        <p:spPr>
          <a:xfrm>
            <a:off x="594360" y="2258568"/>
            <a:ext cx="914400" cy="256032"/>
          </a:xfrm>
          <a:prstGeom prst="rect">
            <a:avLst/>
          </a:prstGeom>
          <a:noFill/>
          <a:ln/>
        </p:spPr>
        <p:txBody>
          <a:bodyPr wrap="square" rtlCol="0" anchor="ctr"/>
          <a:lstStyle/>
          <a:p>
            <a:pPr indent="0" marL="0">
              <a:buNone/>
            </a:pPr>
            <a:r>
              <a:rPr lang="en-US" sz="800" dirty="0">
                <a:solidFill>
                  <a:srgbClr val="8C8680"/>
                </a:solidFill>
                <a:latin typeface="Courier-Bold" pitchFamily="34" charset="0"/>
                <a:ea typeface="Courier-Bold" pitchFamily="34" charset="-122"/>
                <a:cs typeface="Courier-Bold" pitchFamily="34" charset="-120"/>
              </a:rPr>
              <a:t>CONV</a:t>
            </a:r>
            <a:endParaRPr lang="en-US" sz="800" dirty="0"/>
          </a:p>
        </p:txBody>
      </p:sp>
      <p:sp>
        <p:nvSpPr>
          <p:cNvPr id="12" name="Text 10"/>
          <p:cNvSpPr/>
          <p:nvPr/>
        </p:nvSpPr>
        <p:spPr>
          <a:xfrm>
            <a:off x="1600200" y="2258568"/>
            <a:ext cx="3794760" cy="256032"/>
          </a:xfrm>
          <a:prstGeom prst="rect">
            <a:avLst/>
          </a:prstGeom>
          <a:noFill/>
          <a:ln/>
        </p:spPr>
        <p:txBody>
          <a:bodyPr wrap="square" rtlCol="0" anchor="ctr"/>
          <a:lstStyle/>
          <a:p>
            <a:pPr indent="0" marL="0">
              <a:buNone/>
            </a:pPr>
            <a:r>
              <a:rPr lang="en-US" sz="850" dirty="0">
                <a:solidFill>
                  <a:srgbClr val="FAF7F2"/>
                </a:solidFill>
                <a:latin typeface="Courier New" pitchFamily="34" charset="0"/>
                <a:ea typeface="Courier New" pitchFamily="34" charset="-122"/>
                <a:cs typeface="Courier New" pitchFamily="34" charset="-120"/>
              </a:rPr>
              <a:t>3 filters scan: 2 words, 3 words, 4 words at a time — 100 filters each</a:t>
            </a:r>
            <a:endParaRPr lang="en-US" sz="850" dirty="0"/>
          </a:p>
        </p:txBody>
      </p:sp>
      <p:sp>
        <p:nvSpPr>
          <p:cNvPr id="13" name="Shape 11"/>
          <p:cNvSpPr/>
          <p:nvPr/>
        </p:nvSpPr>
        <p:spPr>
          <a:xfrm>
            <a:off x="457200" y="2697480"/>
            <a:ext cx="5074920" cy="402336"/>
          </a:xfrm>
          <a:prstGeom prst="rect">
            <a:avLst/>
          </a:prstGeom>
          <a:solidFill>
            <a:srgbClr val="0F5F3F"/>
          </a:solidFill>
          <a:ln w="12700">
            <a:solidFill>
              <a:srgbClr val="3A3530"/>
            </a:solidFill>
            <a:prstDash val="solid"/>
          </a:ln>
        </p:spPr>
      </p:sp>
      <p:sp>
        <p:nvSpPr>
          <p:cNvPr id="14" name="Text 12"/>
          <p:cNvSpPr/>
          <p:nvPr/>
        </p:nvSpPr>
        <p:spPr>
          <a:xfrm>
            <a:off x="594360" y="2761488"/>
            <a:ext cx="914400" cy="256032"/>
          </a:xfrm>
          <a:prstGeom prst="rect">
            <a:avLst/>
          </a:prstGeom>
          <a:noFill/>
          <a:ln/>
        </p:spPr>
        <p:txBody>
          <a:bodyPr wrap="square" rtlCol="0" anchor="ctr"/>
          <a:lstStyle/>
          <a:p>
            <a:pPr indent="0" marL="0">
              <a:buNone/>
            </a:pPr>
            <a:r>
              <a:rPr lang="en-US" sz="800" dirty="0">
                <a:solidFill>
                  <a:srgbClr val="8C8680"/>
                </a:solidFill>
                <a:latin typeface="Courier-Bold" pitchFamily="34" charset="0"/>
                <a:ea typeface="Courier-Bold" pitchFamily="34" charset="-122"/>
                <a:cs typeface="Courier-Bold" pitchFamily="34" charset="-120"/>
              </a:rPr>
              <a:t>POOL</a:t>
            </a:r>
            <a:endParaRPr lang="en-US" sz="800" dirty="0"/>
          </a:p>
        </p:txBody>
      </p:sp>
      <p:sp>
        <p:nvSpPr>
          <p:cNvPr id="15" name="Text 13"/>
          <p:cNvSpPr/>
          <p:nvPr/>
        </p:nvSpPr>
        <p:spPr>
          <a:xfrm>
            <a:off x="1600200" y="2761488"/>
            <a:ext cx="3794760" cy="256032"/>
          </a:xfrm>
          <a:prstGeom prst="rect">
            <a:avLst/>
          </a:prstGeom>
          <a:noFill/>
          <a:ln/>
        </p:spPr>
        <p:txBody>
          <a:bodyPr wrap="square" rtlCol="0" anchor="ctr"/>
          <a:lstStyle/>
          <a:p>
            <a:pPr indent="0" marL="0">
              <a:buNone/>
            </a:pPr>
            <a:r>
              <a:rPr lang="en-US" sz="850" dirty="0">
                <a:solidFill>
                  <a:srgbClr val="FAF7F2"/>
                </a:solidFill>
                <a:latin typeface="Courier New" pitchFamily="34" charset="0"/>
                <a:ea typeface="Courier New" pitchFamily="34" charset="-122"/>
                <a:cs typeface="Courier New" pitchFamily="34" charset="-120"/>
              </a:rPr>
              <a:t>Max pooling — keep only the strongest signal from each filter</a:t>
            </a:r>
            <a:endParaRPr lang="en-US" sz="850" dirty="0"/>
          </a:p>
        </p:txBody>
      </p:sp>
      <p:sp>
        <p:nvSpPr>
          <p:cNvPr id="16" name="Shape 14"/>
          <p:cNvSpPr/>
          <p:nvPr/>
        </p:nvSpPr>
        <p:spPr>
          <a:xfrm>
            <a:off x="457200" y="3200400"/>
            <a:ext cx="5074920" cy="402336"/>
          </a:xfrm>
          <a:prstGeom prst="rect">
            <a:avLst/>
          </a:prstGeom>
          <a:solidFill>
            <a:srgbClr val="4A1D96"/>
          </a:solidFill>
          <a:ln w="12700">
            <a:solidFill>
              <a:srgbClr val="3A3530"/>
            </a:solidFill>
            <a:prstDash val="solid"/>
          </a:ln>
        </p:spPr>
      </p:sp>
      <p:sp>
        <p:nvSpPr>
          <p:cNvPr id="17" name="Text 15"/>
          <p:cNvSpPr/>
          <p:nvPr/>
        </p:nvSpPr>
        <p:spPr>
          <a:xfrm>
            <a:off x="594360" y="3264408"/>
            <a:ext cx="914400" cy="256032"/>
          </a:xfrm>
          <a:prstGeom prst="rect">
            <a:avLst/>
          </a:prstGeom>
          <a:noFill/>
          <a:ln/>
        </p:spPr>
        <p:txBody>
          <a:bodyPr wrap="square" rtlCol="0" anchor="ctr"/>
          <a:lstStyle/>
          <a:p>
            <a:pPr indent="0" marL="0">
              <a:buNone/>
            </a:pPr>
            <a:r>
              <a:rPr lang="en-US" sz="800" dirty="0">
                <a:solidFill>
                  <a:srgbClr val="8C8680"/>
                </a:solidFill>
                <a:latin typeface="Courier-Bold" pitchFamily="34" charset="0"/>
                <a:ea typeface="Courier-Bold" pitchFamily="34" charset="-122"/>
                <a:cs typeface="Courier-Bold" pitchFamily="34" charset="-120"/>
              </a:rPr>
              <a:t>CAT</a:t>
            </a:r>
            <a:endParaRPr lang="en-US" sz="800" dirty="0"/>
          </a:p>
        </p:txBody>
      </p:sp>
      <p:sp>
        <p:nvSpPr>
          <p:cNvPr id="18" name="Text 16"/>
          <p:cNvSpPr/>
          <p:nvPr/>
        </p:nvSpPr>
        <p:spPr>
          <a:xfrm>
            <a:off x="1600200" y="3264408"/>
            <a:ext cx="3794760" cy="256032"/>
          </a:xfrm>
          <a:prstGeom prst="rect">
            <a:avLst/>
          </a:prstGeom>
          <a:noFill/>
          <a:ln/>
        </p:spPr>
        <p:txBody>
          <a:bodyPr wrap="square" rtlCol="0" anchor="ctr"/>
          <a:lstStyle/>
          <a:p>
            <a:pPr indent="0" marL="0">
              <a:buNone/>
            </a:pPr>
            <a:r>
              <a:rPr lang="en-US" sz="850" dirty="0">
                <a:solidFill>
                  <a:srgbClr val="FAF7F2"/>
                </a:solidFill>
                <a:latin typeface="Courier New" pitchFamily="34" charset="0"/>
                <a:ea typeface="Courier New" pitchFamily="34" charset="-122"/>
                <a:cs typeface="Courier New" pitchFamily="34" charset="-120"/>
              </a:rPr>
              <a:t>Concatenate all filters → 300-number vector representing the abstract</a:t>
            </a:r>
            <a:endParaRPr lang="en-US" sz="850" dirty="0"/>
          </a:p>
        </p:txBody>
      </p:sp>
      <p:sp>
        <p:nvSpPr>
          <p:cNvPr id="19" name="Shape 17"/>
          <p:cNvSpPr/>
          <p:nvPr/>
        </p:nvSpPr>
        <p:spPr>
          <a:xfrm>
            <a:off x="457200" y="3703320"/>
            <a:ext cx="5074920" cy="402336"/>
          </a:xfrm>
          <a:prstGeom prst="rect">
            <a:avLst/>
          </a:prstGeom>
          <a:solidFill>
            <a:srgbClr val="374151"/>
          </a:solidFill>
          <a:ln w="12700">
            <a:solidFill>
              <a:srgbClr val="3A3530"/>
            </a:solidFill>
            <a:prstDash val="solid"/>
          </a:ln>
        </p:spPr>
      </p:sp>
      <p:sp>
        <p:nvSpPr>
          <p:cNvPr id="20" name="Text 18"/>
          <p:cNvSpPr/>
          <p:nvPr/>
        </p:nvSpPr>
        <p:spPr>
          <a:xfrm>
            <a:off x="594360" y="3767328"/>
            <a:ext cx="914400" cy="256032"/>
          </a:xfrm>
          <a:prstGeom prst="rect">
            <a:avLst/>
          </a:prstGeom>
          <a:noFill/>
          <a:ln/>
        </p:spPr>
        <p:txBody>
          <a:bodyPr wrap="square" rtlCol="0" anchor="ctr"/>
          <a:lstStyle/>
          <a:p>
            <a:pPr indent="0" marL="0">
              <a:buNone/>
            </a:pPr>
            <a:r>
              <a:rPr lang="en-US" sz="800" dirty="0">
                <a:solidFill>
                  <a:srgbClr val="8C8680"/>
                </a:solidFill>
                <a:latin typeface="Courier-Bold" pitchFamily="34" charset="0"/>
                <a:ea typeface="Courier-Bold" pitchFamily="34" charset="-122"/>
                <a:cs typeface="Courier-Bold" pitchFamily="34" charset="-120"/>
              </a:rPr>
              <a:t>DROP</a:t>
            </a:r>
            <a:endParaRPr lang="en-US" sz="800" dirty="0"/>
          </a:p>
        </p:txBody>
      </p:sp>
      <p:sp>
        <p:nvSpPr>
          <p:cNvPr id="21" name="Text 19"/>
          <p:cNvSpPr/>
          <p:nvPr/>
        </p:nvSpPr>
        <p:spPr>
          <a:xfrm>
            <a:off x="1600200" y="3767328"/>
            <a:ext cx="3794760" cy="256032"/>
          </a:xfrm>
          <a:prstGeom prst="rect">
            <a:avLst/>
          </a:prstGeom>
          <a:noFill/>
          <a:ln/>
        </p:spPr>
        <p:txBody>
          <a:bodyPr wrap="square" rtlCol="0" anchor="ctr"/>
          <a:lstStyle/>
          <a:p>
            <a:pPr indent="0" marL="0">
              <a:buNone/>
            </a:pPr>
            <a:r>
              <a:rPr lang="en-US" sz="850" dirty="0">
                <a:solidFill>
                  <a:srgbClr val="FAF7F2"/>
                </a:solidFill>
                <a:latin typeface="Courier New" pitchFamily="34" charset="0"/>
                <a:ea typeface="Courier New" pitchFamily="34" charset="-122"/>
                <a:cs typeface="Courier New" pitchFamily="34" charset="-120"/>
              </a:rPr>
              <a:t>Dropout 0.5 — randomly disable neurons during training to prevent overfitting</a:t>
            </a:r>
            <a:endParaRPr lang="en-US" sz="850" dirty="0"/>
          </a:p>
        </p:txBody>
      </p:sp>
      <p:sp>
        <p:nvSpPr>
          <p:cNvPr id="22" name="Shape 20"/>
          <p:cNvSpPr/>
          <p:nvPr/>
        </p:nvSpPr>
        <p:spPr>
          <a:xfrm>
            <a:off x="457200" y="4206240"/>
            <a:ext cx="2423160" cy="685800"/>
          </a:xfrm>
          <a:prstGeom prst="rect">
            <a:avLst/>
          </a:prstGeom>
          <a:solidFill>
            <a:srgbClr val="2D5016"/>
          </a:solidFill>
          <a:ln w="12700">
            <a:solidFill>
              <a:srgbClr val="3A3530"/>
            </a:solidFill>
            <a:prstDash val="solid"/>
          </a:ln>
        </p:spPr>
      </p:sp>
      <p:sp>
        <p:nvSpPr>
          <p:cNvPr id="23" name="Text 21"/>
          <p:cNvSpPr/>
          <p:nvPr/>
        </p:nvSpPr>
        <p:spPr>
          <a:xfrm>
            <a:off x="548640" y="4270248"/>
            <a:ext cx="2240280" cy="201168"/>
          </a:xfrm>
          <a:prstGeom prst="rect">
            <a:avLst/>
          </a:prstGeom>
          <a:noFill/>
          <a:ln/>
        </p:spPr>
        <p:txBody>
          <a:bodyPr wrap="square" rtlCol="0" anchor="ctr"/>
          <a:lstStyle/>
          <a:p>
            <a:pPr indent="0" marL="0">
              <a:buNone/>
            </a:pPr>
            <a:r>
              <a:rPr lang="en-US" sz="900" b="1" dirty="0">
                <a:solidFill>
                  <a:srgbClr val="9BCB6A"/>
                </a:solidFill>
                <a:latin typeface="Courier New" pitchFamily="34" charset="0"/>
                <a:ea typeface="Courier New" pitchFamily="34" charset="-122"/>
                <a:cs typeface="Courier New" pitchFamily="34" charset="-120"/>
              </a:rPr>
              <a:t>HEAD 1 — Field</a:t>
            </a:r>
            <a:endParaRPr lang="en-US" sz="900" dirty="0"/>
          </a:p>
        </p:txBody>
      </p:sp>
      <p:sp>
        <p:nvSpPr>
          <p:cNvPr id="24" name="Text 22"/>
          <p:cNvSpPr/>
          <p:nvPr/>
        </p:nvSpPr>
        <p:spPr>
          <a:xfrm>
            <a:off x="548640" y="4480560"/>
            <a:ext cx="2240280" cy="274320"/>
          </a:xfrm>
          <a:prstGeom prst="rect">
            <a:avLst/>
          </a:prstGeom>
          <a:noFill/>
          <a:ln/>
        </p:spPr>
        <p:txBody>
          <a:bodyPr wrap="square" rtlCol="0" anchor="ctr"/>
          <a:lstStyle/>
          <a:p>
            <a:pPr indent="0" marL="0">
              <a:buNone/>
            </a:pPr>
            <a:r>
              <a:rPr lang="en-US" sz="800" dirty="0">
                <a:solidFill>
                  <a:srgbClr val="FAF7F2"/>
                </a:solidFill>
                <a:latin typeface="Courier New" pitchFamily="34" charset="0"/>
                <a:ea typeface="Courier New" pitchFamily="34" charset="-122"/>
                <a:cs typeface="Courier New" pitchFamily="34" charset="-120"/>
              </a:rPr>
              <a:t>11 research field classes</a:t>
            </a:r>
            <a:endParaRPr lang="en-US" sz="800" dirty="0"/>
          </a:p>
        </p:txBody>
      </p:sp>
      <p:sp>
        <p:nvSpPr>
          <p:cNvPr id="25" name="Shape 23"/>
          <p:cNvSpPr/>
          <p:nvPr/>
        </p:nvSpPr>
        <p:spPr>
          <a:xfrm>
            <a:off x="3108960" y="4206240"/>
            <a:ext cx="2423160" cy="685800"/>
          </a:xfrm>
          <a:prstGeom prst="rect">
            <a:avLst/>
          </a:prstGeom>
          <a:solidFill>
            <a:srgbClr val="7B4F2E"/>
          </a:solidFill>
          <a:ln w="12700">
            <a:solidFill>
              <a:srgbClr val="3A3530"/>
            </a:solidFill>
            <a:prstDash val="solid"/>
          </a:ln>
        </p:spPr>
      </p:sp>
      <p:sp>
        <p:nvSpPr>
          <p:cNvPr id="26" name="Text 24"/>
          <p:cNvSpPr/>
          <p:nvPr/>
        </p:nvSpPr>
        <p:spPr>
          <a:xfrm>
            <a:off x="3200400" y="4270248"/>
            <a:ext cx="2240280" cy="201168"/>
          </a:xfrm>
          <a:prstGeom prst="rect">
            <a:avLst/>
          </a:prstGeom>
          <a:noFill/>
          <a:ln/>
        </p:spPr>
        <p:txBody>
          <a:bodyPr wrap="square" rtlCol="0" anchor="ctr"/>
          <a:lstStyle/>
          <a:p>
            <a:pPr indent="0" marL="0">
              <a:buNone/>
            </a:pPr>
            <a:r>
              <a:rPr lang="en-US" sz="900" b="1" dirty="0">
                <a:solidFill>
                  <a:srgbClr val="FFBA7A"/>
                </a:solidFill>
                <a:latin typeface="Courier New" pitchFamily="34" charset="0"/>
                <a:ea typeface="Courier New" pitchFamily="34" charset="-122"/>
                <a:cs typeface="Courier New" pitchFamily="34" charset="-120"/>
              </a:rPr>
              <a:t>HEAD 2 — Novelty</a:t>
            </a:r>
            <a:endParaRPr lang="en-US" sz="900" dirty="0"/>
          </a:p>
        </p:txBody>
      </p:sp>
      <p:sp>
        <p:nvSpPr>
          <p:cNvPr id="27" name="Text 25"/>
          <p:cNvSpPr/>
          <p:nvPr/>
        </p:nvSpPr>
        <p:spPr>
          <a:xfrm>
            <a:off x="3200400" y="4480560"/>
            <a:ext cx="2240280" cy="274320"/>
          </a:xfrm>
          <a:prstGeom prst="rect">
            <a:avLst/>
          </a:prstGeom>
          <a:noFill/>
          <a:ln/>
        </p:spPr>
        <p:txBody>
          <a:bodyPr wrap="square" rtlCol="0" anchor="ctr"/>
          <a:lstStyle/>
          <a:p>
            <a:pPr indent="0" marL="0">
              <a:buNone/>
            </a:pPr>
            <a:r>
              <a:rPr lang="en-US" sz="800" dirty="0">
                <a:solidFill>
                  <a:srgbClr val="FAF7F2"/>
                </a:solidFill>
                <a:latin typeface="Courier New" pitchFamily="34" charset="0"/>
                <a:ea typeface="Courier New" pitchFamily="34" charset="-122"/>
                <a:cs typeface="Courier New" pitchFamily="34" charset="-120"/>
              </a:rPr>
              <a:t>4 levels: Incremental → Breakthrough</a:t>
            </a:r>
            <a:endParaRPr lang="en-US" sz="800" dirty="0"/>
          </a:p>
        </p:txBody>
      </p:sp>
      <p:sp>
        <p:nvSpPr>
          <p:cNvPr id="28" name="Text 26"/>
          <p:cNvSpPr/>
          <p:nvPr/>
        </p:nvSpPr>
        <p:spPr>
          <a:xfrm>
            <a:off x="5852160" y="411480"/>
            <a:ext cx="292608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WHY NOT BERT?</a:t>
            </a:r>
            <a:endParaRPr lang="en-US" sz="800" dirty="0"/>
          </a:p>
        </p:txBody>
      </p:sp>
      <p:sp>
        <p:nvSpPr>
          <p:cNvPr id="29" name="Shape 27"/>
          <p:cNvSpPr/>
          <p:nvPr/>
        </p:nvSpPr>
        <p:spPr>
          <a:xfrm>
            <a:off x="5852160" y="640080"/>
            <a:ext cx="2743200" cy="0"/>
          </a:xfrm>
          <a:prstGeom prst="line">
            <a:avLst/>
          </a:prstGeom>
          <a:noFill/>
          <a:ln w="6350">
            <a:solidFill>
              <a:srgbClr val="D4CFC8"/>
            </a:solidFill>
            <a:prstDash val="solid"/>
          </a:ln>
        </p:spPr>
      </p:sp>
      <p:sp>
        <p:nvSpPr>
          <p:cNvPr id="30" name="Text 28"/>
          <p:cNvSpPr/>
          <p:nvPr/>
        </p:nvSpPr>
        <p:spPr>
          <a:xfrm>
            <a:off x="5852160" y="777240"/>
            <a:ext cx="2834640" cy="2011680"/>
          </a:xfrm>
          <a:prstGeom prst="rect">
            <a:avLst/>
          </a:prstGeom>
          <a:noFill/>
          <a:ln/>
        </p:spPr>
        <p:txBody>
          <a:bodyPr wrap="square" rtlCol="0" anchor="ctr"/>
          <a:lstStyle/>
          <a:p>
            <a:pPr indent="0" marL="0">
              <a:lnSpc>
                <a:spcPct val="160000"/>
              </a:lnSpc>
              <a:buNone/>
            </a:pPr>
            <a:r>
              <a:rPr lang="en-US" sz="900" dirty="0">
                <a:solidFill>
                  <a:srgbClr val="1C1917"/>
                </a:solidFill>
                <a:latin typeface="Courier New" pitchFamily="34" charset="0"/>
                <a:ea typeface="Courier New" pitchFamily="34" charset="-122"/>
                <a:cs typeface="Courier New" pitchFamily="34" charset="-120"/>
              </a:rPr>
              <a:t>TextCNN trains in 30 min on free Colab GPU.</a:t>
            </a:r>
            <a:endParaRPr lang="en-US" sz="900" dirty="0"/>
          </a:p>
          <a:p>
            <a:pPr indent="0" marL="0">
              <a:lnSpc>
                <a:spcPct val="160000"/>
              </a:lnSpc>
              <a:buNone/>
            </a:pPr>
            <a:endParaRPr lang="en-US" sz="900" dirty="0"/>
          </a:p>
          <a:p>
            <a:pPr indent="0" marL="0">
              <a:lnSpc>
                <a:spcPct val="160000"/>
              </a:lnSpc>
              <a:buNone/>
            </a:pPr>
            <a:r>
              <a:rPr lang="en-US" sz="900" dirty="0">
                <a:solidFill>
                  <a:srgbClr val="1C1917"/>
                </a:solidFill>
                <a:latin typeface="Courier New" pitchFamily="34" charset="0"/>
                <a:ea typeface="Courier New" pitchFamily="34" charset="-122"/>
                <a:cs typeface="Courier New" pitchFamily="34" charset="-120"/>
              </a:rPr>
              <a:t>BERT would take hours and needs a paid GPU.</a:t>
            </a:r>
            <a:endParaRPr lang="en-US" sz="900" dirty="0"/>
          </a:p>
          <a:p>
            <a:pPr indent="0" marL="0">
              <a:lnSpc>
                <a:spcPct val="160000"/>
              </a:lnSpc>
              <a:buNone/>
            </a:pPr>
            <a:endParaRPr lang="en-US" sz="900" dirty="0"/>
          </a:p>
          <a:p>
            <a:pPr indent="0" marL="0">
              <a:lnSpc>
                <a:spcPct val="160000"/>
              </a:lnSpc>
              <a:buNone/>
            </a:pPr>
            <a:r>
              <a:rPr lang="en-US" sz="900" dirty="0">
                <a:solidFill>
                  <a:srgbClr val="1C1917"/>
                </a:solidFill>
                <a:latin typeface="Courier New" pitchFamily="34" charset="0"/>
                <a:ea typeface="Courier New" pitchFamily="34" charset="-122"/>
                <a:cs typeface="Courier New" pitchFamily="34" charset="-120"/>
              </a:rPr>
              <a:t>We wrote every layer ourselves — 4 million parameters we can explain.</a:t>
            </a:r>
            <a:endParaRPr lang="en-US" sz="900" dirty="0"/>
          </a:p>
          <a:p>
            <a:pPr indent="0" marL="0">
              <a:lnSpc>
                <a:spcPct val="160000"/>
              </a:lnSpc>
              <a:buNone/>
            </a:pPr>
            <a:endParaRPr lang="en-US" sz="900" dirty="0"/>
          </a:p>
          <a:p>
            <a:pPr indent="0" marL="0">
              <a:lnSpc>
                <a:spcPct val="160000"/>
              </a:lnSpc>
              <a:buNone/>
            </a:pPr>
            <a:r>
              <a:rPr lang="en-US" sz="900" dirty="0">
                <a:solidFill>
                  <a:srgbClr val="1C1917"/>
                </a:solidFill>
                <a:latin typeface="Courier New" pitchFamily="34" charset="0"/>
                <a:ea typeface="Courier New" pitchFamily="34" charset="-122"/>
                <a:cs typeface="Courier New" pitchFamily="34" charset="-120"/>
              </a:rPr>
              <a:t>That is more impressive than downloading BERT.</a:t>
            </a:r>
            <a:endParaRPr lang="en-US" sz="900" dirty="0"/>
          </a:p>
        </p:txBody>
      </p:sp>
      <p:sp>
        <p:nvSpPr>
          <p:cNvPr id="31" name="Shape 29"/>
          <p:cNvSpPr/>
          <p:nvPr/>
        </p:nvSpPr>
        <p:spPr>
          <a:xfrm>
            <a:off x="5852160" y="2880360"/>
            <a:ext cx="2743200" cy="0"/>
          </a:xfrm>
          <a:prstGeom prst="line">
            <a:avLst/>
          </a:prstGeom>
          <a:noFill/>
          <a:ln w="6350">
            <a:solidFill>
              <a:srgbClr val="D4CFC8"/>
            </a:solidFill>
            <a:prstDash val="solid"/>
          </a:ln>
        </p:spPr>
      </p:sp>
      <p:sp>
        <p:nvSpPr>
          <p:cNvPr id="32" name="Text 30"/>
          <p:cNvSpPr/>
          <p:nvPr/>
        </p:nvSpPr>
        <p:spPr>
          <a:xfrm>
            <a:off x="5852160" y="2999232"/>
            <a:ext cx="292608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TRAINING</a:t>
            </a:r>
            <a:endParaRPr lang="en-US" sz="800" dirty="0"/>
          </a:p>
        </p:txBody>
      </p:sp>
      <p:sp>
        <p:nvSpPr>
          <p:cNvPr id="33" name="Text 31"/>
          <p:cNvSpPr/>
          <p:nvPr/>
        </p:nvSpPr>
        <p:spPr>
          <a:xfrm>
            <a:off x="5852160" y="3200400"/>
            <a:ext cx="2834640" cy="329184"/>
          </a:xfrm>
          <a:prstGeom prst="rect">
            <a:avLst/>
          </a:prstGeom>
          <a:noFill/>
          <a:ln/>
        </p:spPr>
        <p:txBody>
          <a:bodyPr wrap="square" rtlCol="0" anchor="ctr"/>
          <a:lstStyle/>
          <a:p>
            <a:pPr indent="0" marL="0">
              <a:buNone/>
            </a:pPr>
            <a:r>
              <a:rPr lang="en-US" sz="2000" dirty="0">
                <a:solidFill>
                  <a:srgbClr val="1C1917"/>
                </a:solidFill>
                <a:latin typeface="Georgia" pitchFamily="34" charset="0"/>
                <a:ea typeface="Georgia" pitchFamily="34" charset="-122"/>
                <a:cs typeface="Georgia" pitchFamily="34" charset="-120"/>
              </a:rPr>
              <a:t>28,388</a:t>
            </a:r>
            <a:endParaRPr lang="en-US" sz="2000" dirty="0"/>
          </a:p>
        </p:txBody>
      </p:sp>
      <p:sp>
        <p:nvSpPr>
          <p:cNvPr id="34" name="Text 32"/>
          <p:cNvSpPr/>
          <p:nvPr/>
        </p:nvSpPr>
        <p:spPr>
          <a:xfrm>
            <a:off x="5852160" y="3529584"/>
            <a:ext cx="2834640" cy="164592"/>
          </a:xfrm>
          <a:prstGeom prst="rect">
            <a:avLst/>
          </a:prstGeom>
          <a:noFill/>
          <a:ln/>
        </p:spPr>
        <p:txBody>
          <a:bodyPr wrap="square" rtlCol="0" anchor="ctr"/>
          <a:lstStyle/>
          <a:p>
            <a:pPr indent="0" marL="0">
              <a:buNone/>
            </a:pPr>
            <a:r>
              <a:rPr lang="en-US" sz="750" spc="200" kern="0" dirty="0">
                <a:solidFill>
                  <a:srgbClr val="8C8680"/>
                </a:solidFill>
                <a:latin typeface="Courier New" pitchFamily="34" charset="0"/>
                <a:ea typeface="Courier New" pitchFamily="34" charset="-122"/>
                <a:cs typeface="Courier New" pitchFamily="34" charset="-120"/>
              </a:rPr>
              <a:t>training papers</a:t>
            </a:r>
            <a:endParaRPr lang="en-US" sz="750" dirty="0"/>
          </a:p>
        </p:txBody>
      </p:sp>
      <p:sp>
        <p:nvSpPr>
          <p:cNvPr id="35" name="Shape 33"/>
          <p:cNvSpPr/>
          <p:nvPr/>
        </p:nvSpPr>
        <p:spPr>
          <a:xfrm>
            <a:off x="5852160" y="3730752"/>
            <a:ext cx="2743200" cy="0"/>
          </a:xfrm>
          <a:prstGeom prst="line">
            <a:avLst/>
          </a:prstGeom>
          <a:noFill/>
          <a:ln w="6350">
            <a:solidFill>
              <a:srgbClr val="D4CFC8"/>
            </a:solidFill>
            <a:prstDash val="solid"/>
          </a:ln>
        </p:spPr>
      </p:sp>
      <p:sp>
        <p:nvSpPr>
          <p:cNvPr id="36" name="Text 34"/>
          <p:cNvSpPr/>
          <p:nvPr/>
        </p:nvSpPr>
        <p:spPr>
          <a:xfrm>
            <a:off x="5852160" y="3767328"/>
            <a:ext cx="2834640" cy="329184"/>
          </a:xfrm>
          <a:prstGeom prst="rect">
            <a:avLst/>
          </a:prstGeom>
          <a:noFill/>
          <a:ln/>
        </p:spPr>
        <p:txBody>
          <a:bodyPr wrap="square" rtlCol="0" anchor="ctr"/>
          <a:lstStyle/>
          <a:p>
            <a:pPr indent="0" marL="0">
              <a:buNone/>
            </a:pPr>
            <a:r>
              <a:rPr lang="en-US" sz="2000" dirty="0">
                <a:solidFill>
                  <a:srgbClr val="1C1917"/>
                </a:solidFill>
                <a:latin typeface="Georgia" pitchFamily="34" charset="0"/>
                <a:ea typeface="Georgia" pitchFamily="34" charset="-122"/>
                <a:cs typeface="Georgia" pitchFamily="34" charset="-120"/>
              </a:rPr>
              <a:t>84.57%</a:t>
            </a:r>
            <a:endParaRPr lang="en-US" sz="2000" dirty="0"/>
          </a:p>
        </p:txBody>
      </p:sp>
      <p:sp>
        <p:nvSpPr>
          <p:cNvPr id="37" name="Text 35"/>
          <p:cNvSpPr/>
          <p:nvPr/>
        </p:nvSpPr>
        <p:spPr>
          <a:xfrm>
            <a:off x="5852160" y="4096512"/>
            <a:ext cx="2834640" cy="164592"/>
          </a:xfrm>
          <a:prstGeom prst="rect">
            <a:avLst/>
          </a:prstGeom>
          <a:noFill/>
          <a:ln/>
        </p:spPr>
        <p:txBody>
          <a:bodyPr wrap="square" rtlCol="0" anchor="ctr"/>
          <a:lstStyle/>
          <a:p>
            <a:pPr indent="0" marL="0">
              <a:buNone/>
            </a:pPr>
            <a:r>
              <a:rPr lang="en-US" sz="750" spc="200" kern="0" dirty="0">
                <a:solidFill>
                  <a:srgbClr val="8C8680"/>
                </a:solidFill>
                <a:latin typeface="Courier New" pitchFamily="34" charset="0"/>
                <a:ea typeface="Courier New" pitchFamily="34" charset="-122"/>
                <a:cs typeface="Courier New" pitchFamily="34" charset="-120"/>
              </a:rPr>
              <a:t>final accuracy</a:t>
            </a:r>
            <a:endParaRPr lang="en-US" sz="750" dirty="0"/>
          </a:p>
        </p:txBody>
      </p:sp>
      <p:sp>
        <p:nvSpPr>
          <p:cNvPr id="38" name="Shape 36"/>
          <p:cNvSpPr/>
          <p:nvPr/>
        </p:nvSpPr>
        <p:spPr>
          <a:xfrm>
            <a:off x="5852160" y="4297680"/>
            <a:ext cx="2743200" cy="0"/>
          </a:xfrm>
          <a:prstGeom prst="line">
            <a:avLst/>
          </a:prstGeom>
          <a:noFill/>
          <a:ln w="6350">
            <a:solidFill>
              <a:srgbClr val="D4CFC8"/>
            </a:solidFill>
            <a:prstDash val="solid"/>
          </a:ln>
        </p:spPr>
      </p:sp>
      <p:sp>
        <p:nvSpPr>
          <p:cNvPr id="39" name="Text 37"/>
          <p:cNvSpPr/>
          <p:nvPr/>
        </p:nvSpPr>
        <p:spPr>
          <a:xfrm>
            <a:off x="5852160" y="4334256"/>
            <a:ext cx="2834640" cy="329184"/>
          </a:xfrm>
          <a:prstGeom prst="rect">
            <a:avLst/>
          </a:prstGeom>
          <a:noFill/>
          <a:ln/>
        </p:spPr>
        <p:txBody>
          <a:bodyPr wrap="square" rtlCol="0" anchor="ctr"/>
          <a:lstStyle/>
          <a:p>
            <a:pPr indent="0" marL="0">
              <a:buNone/>
            </a:pPr>
            <a:r>
              <a:rPr lang="en-US" sz="2000" dirty="0">
                <a:solidFill>
                  <a:srgbClr val="1C1917"/>
                </a:solidFill>
                <a:latin typeface="Georgia" pitchFamily="34" charset="0"/>
                <a:ea typeface="Georgia" pitchFamily="34" charset="-122"/>
                <a:cs typeface="Georgia" pitchFamily="34" charset="-120"/>
              </a:rPr>
              <a:t>15 epochs</a:t>
            </a:r>
            <a:endParaRPr lang="en-US" sz="2000" dirty="0"/>
          </a:p>
        </p:txBody>
      </p:sp>
      <p:sp>
        <p:nvSpPr>
          <p:cNvPr id="40" name="Text 38"/>
          <p:cNvSpPr/>
          <p:nvPr/>
        </p:nvSpPr>
        <p:spPr>
          <a:xfrm>
            <a:off x="5852160" y="4663440"/>
            <a:ext cx="2834640" cy="164592"/>
          </a:xfrm>
          <a:prstGeom prst="rect">
            <a:avLst/>
          </a:prstGeom>
          <a:noFill/>
          <a:ln/>
        </p:spPr>
        <p:txBody>
          <a:bodyPr wrap="square" rtlCol="0" anchor="ctr"/>
          <a:lstStyle/>
          <a:p>
            <a:pPr indent="0" marL="0">
              <a:buNone/>
            </a:pPr>
            <a:r>
              <a:rPr lang="en-US" sz="750" spc="200" kern="0" dirty="0">
                <a:solidFill>
                  <a:srgbClr val="8C8680"/>
                </a:solidFill>
                <a:latin typeface="Courier New" pitchFamily="34" charset="0"/>
                <a:ea typeface="Courier New" pitchFamily="34" charset="-122"/>
                <a:cs typeface="Courier New" pitchFamily="34" charset="-120"/>
              </a:rPr>
              <a:t>on Colab T4 GPU</a:t>
            </a:r>
            <a:endParaRPr lang="en-US" sz="750" dirty="0"/>
          </a:p>
        </p:txBody>
      </p:sp>
      <p:sp>
        <p:nvSpPr>
          <p:cNvPr id="41" name="Text 39"/>
          <p:cNvSpPr/>
          <p:nvPr/>
        </p:nvSpPr>
        <p:spPr>
          <a:xfrm>
            <a:off x="8046720" y="4892040"/>
            <a:ext cx="914400" cy="182880"/>
          </a:xfrm>
          <a:prstGeom prst="rect">
            <a:avLst/>
          </a:prstGeom>
          <a:noFill/>
          <a:ln/>
        </p:spPr>
        <p:txBody>
          <a:bodyPr wrap="square" rtlCol="0" anchor="ctr"/>
          <a:lstStyle/>
          <a:p>
            <a:pPr algn="r" indent="0" marL="0">
              <a:buNone/>
            </a:pPr>
            <a:r>
              <a:rPr lang="en-US" sz="800" dirty="0">
                <a:solidFill>
                  <a:srgbClr val="D4CFC8"/>
                </a:solidFill>
                <a:latin typeface="Courier New" pitchFamily="34" charset="0"/>
                <a:ea typeface="Courier New" pitchFamily="34" charset="-122"/>
                <a:cs typeface="Courier New" pitchFamily="34" charset="-120"/>
              </a:rPr>
              <a:t>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457200" y="320040"/>
            <a:ext cx="685800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04 — TRAINING RESULTS</a:t>
            </a:r>
            <a:endParaRPr lang="en-US" sz="800" dirty="0"/>
          </a:p>
        </p:txBody>
      </p:sp>
      <p:sp>
        <p:nvSpPr>
          <p:cNvPr id="3" name="Shape 1"/>
          <p:cNvSpPr/>
          <p:nvPr/>
        </p:nvSpPr>
        <p:spPr>
          <a:xfrm>
            <a:off x="457200" y="548640"/>
            <a:ext cx="8229600" cy="0"/>
          </a:xfrm>
          <a:prstGeom prst="line">
            <a:avLst/>
          </a:prstGeom>
          <a:noFill/>
          <a:ln w="6350">
            <a:solidFill>
              <a:srgbClr val="D4CFC8"/>
            </a:solidFill>
            <a:prstDash val="solid"/>
          </a:ln>
        </p:spPr>
      </p:sp>
      <p:sp>
        <p:nvSpPr>
          <p:cNvPr id="4" name="Text 2"/>
          <p:cNvSpPr/>
          <p:nvPr/>
        </p:nvSpPr>
        <p:spPr>
          <a:xfrm>
            <a:off x="457200" y="685800"/>
            <a:ext cx="5029200" cy="914400"/>
          </a:xfrm>
          <a:prstGeom prst="rect">
            <a:avLst/>
          </a:prstGeom>
          <a:noFill/>
          <a:ln/>
        </p:spPr>
        <p:txBody>
          <a:bodyPr wrap="square" rtlCol="0" anchor="ctr"/>
          <a:lstStyle/>
          <a:p>
            <a:pPr indent="0" marL="0">
              <a:lnSpc>
                <a:spcPct val="120000"/>
              </a:lnSpc>
              <a:buNone/>
            </a:pPr>
            <a:r>
              <a:rPr lang="en-US" sz="2600" dirty="0">
                <a:solidFill>
                  <a:srgbClr val="1C1917"/>
                </a:solidFill>
                <a:latin typeface="Georgia" pitchFamily="34" charset="0"/>
                <a:ea typeface="Georgia" pitchFamily="34" charset="-122"/>
                <a:cs typeface="Georgia" pitchFamily="34" charset="-120"/>
              </a:rPr>
              <a:t>The model learned.</a:t>
            </a:r>
            <a:endParaRPr lang="en-US" sz="2600" dirty="0"/>
          </a:p>
          <a:p>
            <a:pPr indent="0" marL="0">
              <a:lnSpc>
                <a:spcPct val="120000"/>
              </a:lnSpc>
              <a:buNone/>
            </a:pPr>
            <a:r>
              <a:rPr lang="en-US" sz="2600" dirty="0">
                <a:solidFill>
                  <a:srgbClr val="1C1917"/>
                </a:solidFill>
                <a:latin typeface="Georgia" pitchFamily="34" charset="0"/>
                <a:ea typeface="Georgia" pitchFamily="34" charset="-122"/>
                <a:cs typeface="Georgia" pitchFamily="34" charset="-120"/>
              </a:rPr>
              <a:t>Loss went down. Accuracy went up.</a:t>
            </a:r>
            <a:endParaRPr lang="en-US" sz="2600" dirty="0"/>
          </a:p>
        </p:txBody>
      </p:sp>
      <p:pic>
        <p:nvPicPr>
          <p:cNvPr id="5" name="Image 0" descr="preencoded.png">    </p:cNvPr>
          <p:cNvPicPr>
            <a:picLocks noChangeAspect="1"/>
          </p:cNvPicPr>
          <p:nvPr/>
        </p:nvPicPr>
        <p:blipFill>
          <a:blip r:embed="rId1"/>
          <a:stretch>
            <a:fillRect/>
          </a:stretch>
        </p:blipFill>
        <p:spPr>
          <a:xfrm>
            <a:off x="457200" y="1719072"/>
            <a:ext cx="4660352" cy="2926080"/>
          </a:xfrm>
          <a:prstGeom prst="rect">
            <a:avLst/>
          </a:prstGeom>
        </p:spPr>
      </p:pic>
      <p:sp>
        <p:nvSpPr>
          <p:cNvPr id="6" name="Text 3"/>
          <p:cNvSpPr/>
          <p:nvPr/>
        </p:nvSpPr>
        <p:spPr>
          <a:xfrm>
            <a:off x="457200" y="4663440"/>
            <a:ext cx="5029200" cy="201168"/>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Left: Training loss dropping from 2.14 → 0.56     Right: Accuracy rising from 25% → 84%</a:t>
            </a:r>
            <a:endParaRPr lang="en-US" sz="800" dirty="0"/>
          </a:p>
        </p:txBody>
      </p:sp>
      <p:sp>
        <p:nvSpPr>
          <p:cNvPr id="7" name="Shape 4"/>
          <p:cNvSpPr/>
          <p:nvPr/>
        </p:nvSpPr>
        <p:spPr>
          <a:xfrm>
            <a:off x="5852160" y="868680"/>
            <a:ext cx="2834640" cy="0"/>
          </a:xfrm>
          <a:prstGeom prst="line">
            <a:avLst/>
          </a:prstGeom>
          <a:noFill/>
          <a:ln w="6350">
            <a:solidFill>
              <a:srgbClr val="E8E4DE"/>
            </a:solidFill>
            <a:prstDash val="solid"/>
          </a:ln>
        </p:spPr>
      </p:sp>
      <p:sp>
        <p:nvSpPr>
          <p:cNvPr id="8" name="Text 5"/>
          <p:cNvSpPr/>
          <p:nvPr/>
        </p:nvSpPr>
        <p:spPr>
          <a:xfrm>
            <a:off x="5852160" y="941832"/>
            <a:ext cx="2834640" cy="256032"/>
          </a:xfrm>
          <a:prstGeom prst="rect">
            <a:avLst/>
          </a:prstGeom>
          <a:noFill/>
          <a:ln/>
        </p:spPr>
        <p:txBody>
          <a:bodyPr wrap="square" rtlCol="0" anchor="ctr"/>
          <a:lstStyle/>
          <a:p>
            <a:pPr indent="0" marL="0">
              <a:buNone/>
            </a:pPr>
            <a:r>
              <a:rPr lang="en-US" sz="1200" dirty="0">
                <a:solidFill>
                  <a:srgbClr val="1C1917"/>
                </a:solidFill>
                <a:latin typeface="Georgia" pitchFamily="34" charset="0"/>
                <a:ea typeface="Georgia" pitchFamily="34" charset="-122"/>
                <a:cs typeface="Georgia" pitchFamily="34" charset="-120"/>
              </a:rPr>
              <a:t>What is loss?</a:t>
            </a:r>
            <a:endParaRPr lang="en-US" sz="1200" dirty="0"/>
          </a:p>
        </p:txBody>
      </p:sp>
      <p:sp>
        <p:nvSpPr>
          <p:cNvPr id="9" name="Text 6"/>
          <p:cNvSpPr/>
          <p:nvPr/>
        </p:nvSpPr>
        <p:spPr>
          <a:xfrm>
            <a:off x="5852160" y="1216152"/>
            <a:ext cx="2834640" cy="566928"/>
          </a:xfrm>
          <a:prstGeom prst="rect">
            <a:avLst/>
          </a:prstGeom>
          <a:noFill/>
          <a:ln/>
        </p:spPr>
        <p:txBody>
          <a:bodyPr wrap="square" rtlCol="0" anchor="ctr"/>
          <a:lstStyle/>
          <a:p>
            <a:pPr indent="0" marL="0">
              <a:lnSpc>
                <a:spcPct val="150000"/>
              </a:lnSpc>
              <a:buNone/>
            </a:pPr>
            <a:r>
              <a:rPr lang="en-US" sz="850" dirty="0">
                <a:solidFill>
                  <a:srgbClr val="8C8680"/>
                </a:solidFill>
                <a:latin typeface="Courier New" pitchFamily="34" charset="0"/>
                <a:ea typeface="Courier New" pitchFamily="34" charset="-122"/>
                <a:cs typeface="Courier New" pitchFamily="34" charset="-120"/>
              </a:rPr>
              <a:t>Loss measures how wrong the model is. It starts high (random guessing) and drops as it learns. Lower is better.</a:t>
            </a:r>
            <a:endParaRPr lang="en-US" sz="850" dirty="0"/>
          </a:p>
        </p:txBody>
      </p:sp>
      <p:sp>
        <p:nvSpPr>
          <p:cNvPr id="10" name="Shape 7"/>
          <p:cNvSpPr/>
          <p:nvPr/>
        </p:nvSpPr>
        <p:spPr>
          <a:xfrm>
            <a:off x="5852160" y="1892808"/>
            <a:ext cx="2834640" cy="0"/>
          </a:xfrm>
          <a:prstGeom prst="line">
            <a:avLst/>
          </a:prstGeom>
          <a:noFill/>
          <a:ln w="6350">
            <a:solidFill>
              <a:srgbClr val="E8E4DE"/>
            </a:solidFill>
            <a:prstDash val="solid"/>
          </a:ln>
        </p:spPr>
      </p:sp>
      <p:sp>
        <p:nvSpPr>
          <p:cNvPr id="11" name="Text 8"/>
          <p:cNvSpPr/>
          <p:nvPr/>
        </p:nvSpPr>
        <p:spPr>
          <a:xfrm>
            <a:off x="5852160" y="1965960"/>
            <a:ext cx="2834640" cy="256032"/>
          </a:xfrm>
          <a:prstGeom prst="rect">
            <a:avLst/>
          </a:prstGeom>
          <a:noFill/>
          <a:ln/>
        </p:spPr>
        <p:txBody>
          <a:bodyPr wrap="square" rtlCol="0" anchor="ctr"/>
          <a:lstStyle/>
          <a:p>
            <a:pPr indent="0" marL="0">
              <a:buNone/>
            </a:pPr>
            <a:r>
              <a:rPr lang="en-US" sz="1200" dirty="0">
                <a:solidFill>
                  <a:srgbClr val="1C1917"/>
                </a:solidFill>
                <a:latin typeface="Georgia" pitchFamily="34" charset="0"/>
                <a:ea typeface="Georgia" pitchFamily="34" charset="-122"/>
                <a:cs typeface="Georgia" pitchFamily="34" charset="-120"/>
              </a:rPr>
              <a:t>What is accuracy?</a:t>
            </a:r>
            <a:endParaRPr lang="en-US" sz="1200" dirty="0"/>
          </a:p>
        </p:txBody>
      </p:sp>
      <p:sp>
        <p:nvSpPr>
          <p:cNvPr id="12" name="Text 9"/>
          <p:cNvSpPr/>
          <p:nvPr/>
        </p:nvSpPr>
        <p:spPr>
          <a:xfrm>
            <a:off x="5852160" y="2240280"/>
            <a:ext cx="2834640" cy="566928"/>
          </a:xfrm>
          <a:prstGeom prst="rect">
            <a:avLst/>
          </a:prstGeom>
          <a:noFill/>
          <a:ln/>
        </p:spPr>
        <p:txBody>
          <a:bodyPr wrap="square" rtlCol="0" anchor="ctr"/>
          <a:lstStyle/>
          <a:p>
            <a:pPr indent="0" marL="0">
              <a:lnSpc>
                <a:spcPct val="150000"/>
              </a:lnSpc>
              <a:buNone/>
            </a:pPr>
            <a:r>
              <a:rPr lang="en-US" sz="850" dirty="0">
                <a:solidFill>
                  <a:srgbClr val="8C8680"/>
                </a:solidFill>
                <a:latin typeface="Courier New" pitchFamily="34" charset="0"/>
                <a:ea typeface="Courier New" pitchFamily="34" charset="-122"/>
                <a:cs typeface="Courier New" pitchFamily="34" charset="-120"/>
              </a:rPr>
              <a:t>The percentage of papers correctly classified. We went from 25% (random) to 85% — the model genuinely learned.</a:t>
            </a:r>
            <a:endParaRPr lang="en-US" sz="850" dirty="0"/>
          </a:p>
        </p:txBody>
      </p:sp>
      <p:sp>
        <p:nvSpPr>
          <p:cNvPr id="13" name="Shape 10"/>
          <p:cNvSpPr/>
          <p:nvPr/>
        </p:nvSpPr>
        <p:spPr>
          <a:xfrm>
            <a:off x="5852160" y="2916936"/>
            <a:ext cx="2834640" cy="0"/>
          </a:xfrm>
          <a:prstGeom prst="line">
            <a:avLst/>
          </a:prstGeom>
          <a:noFill/>
          <a:ln w="6350">
            <a:solidFill>
              <a:srgbClr val="E8E4DE"/>
            </a:solidFill>
            <a:prstDash val="solid"/>
          </a:ln>
        </p:spPr>
      </p:sp>
      <p:sp>
        <p:nvSpPr>
          <p:cNvPr id="14" name="Text 11"/>
          <p:cNvSpPr/>
          <p:nvPr/>
        </p:nvSpPr>
        <p:spPr>
          <a:xfrm>
            <a:off x="5852160" y="2990088"/>
            <a:ext cx="2834640" cy="256032"/>
          </a:xfrm>
          <a:prstGeom prst="rect">
            <a:avLst/>
          </a:prstGeom>
          <a:noFill/>
          <a:ln/>
        </p:spPr>
        <p:txBody>
          <a:bodyPr wrap="square" rtlCol="0" anchor="ctr"/>
          <a:lstStyle/>
          <a:p>
            <a:pPr indent="0" marL="0">
              <a:buNone/>
            </a:pPr>
            <a:r>
              <a:rPr lang="en-US" sz="1200" dirty="0">
                <a:solidFill>
                  <a:srgbClr val="1C1917"/>
                </a:solidFill>
                <a:latin typeface="Georgia" pitchFamily="34" charset="0"/>
                <a:ea typeface="Georgia" pitchFamily="34" charset="-122"/>
                <a:cs typeface="Georgia" pitchFamily="34" charset="-120"/>
              </a:rPr>
              <a:t>No overfitting</a:t>
            </a:r>
            <a:endParaRPr lang="en-US" sz="1200" dirty="0"/>
          </a:p>
        </p:txBody>
      </p:sp>
      <p:sp>
        <p:nvSpPr>
          <p:cNvPr id="15" name="Text 12"/>
          <p:cNvSpPr/>
          <p:nvPr/>
        </p:nvSpPr>
        <p:spPr>
          <a:xfrm>
            <a:off x="5852160" y="3264408"/>
            <a:ext cx="2834640" cy="566928"/>
          </a:xfrm>
          <a:prstGeom prst="rect">
            <a:avLst/>
          </a:prstGeom>
          <a:noFill/>
          <a:ln/>
        </p:spPr>
        <p:txBody>
          <a:bodyPr wrap="square" rtlCol="0" anchor="ctr"/>
          <a:lstStyle/>
          <a:p>
            <a:pPr indent="0" marL="0">
              <a:lnSpc>
                <a:spcPct val="150000"/>
              </a:lnSpc>
              <a:buNone/>
            </a:pPr>
            <a:r>
              <a:rPr lang="en-US" sz="850" dirty="0">
                <a:solidFill>
                  <a:srgbClr val="8C8680"/>
                </a:solidFill>
                <a:latin typeface="Courier New" pitchFamily="34" charset="0"/>
                <a:ea typeface="Courier New" pitchFamily="34" charset="-122"/>
                <a:cs typeface="Courier New" pitchFamily="34" charset="-120"/>
              </a:rPr>
              <a:t>The curves are smooth and consistent — the model learned real patterns, not just memorized training data.</a:t>
            </a:r>
            <a:endParaRPr lang="en-US" sz="850" dirty="0"/>
          </a:p>
        </p:txBody>
      </p:sp>
      <p:sp>
        <p:nvSpPr>
          <p:cNvPr id="16" name="Shape 13"/>
          <p:cNvSpPr/>
          <p:nvPr/>
        </p:nvSpPr>
        <p:spPr>
          <a:xfrm>
            <a:off x="5852160" y="3941064"/>
            <a:ext cx="2834640" cy="0"/>
          </a:xfrm>
          <a:prstGeom prst="line">
            <a:avLst/>
          </a:prstGeom>
          <a:noFill/>
          <a:ln w="6350">
            <a:solidFill>
              <a:srgbClr val="E8E4DE"/>
            </a:solidFill>
            <a:prstDash val="solid"/>
          </a:ln>
        </p:spPr>
      </p:sp>
      <p:sp>
        <p:nvSpPr>
          <p:cNvPr id="17" name="Text 14"/>
          <p:cNvSpPr/>
          <p:nvPr/>
        </p:nvSpPr>
        <p:spPr>
          <a:xfrm>
            <a:off x="5852160" y="4014216"/>
            <a:ext cx="2834640" cy="256032"/>
          </a:xfrm>
          <a:prstGeom prst="rect">
            <a:avLst/>
          </a:prstGeom>
          <a:noFill/>
          <a:ln/>
        </p:spPr>
        <p:txBody>
          <a:bodyPr wrap="square" rtlCol="0" anchor="ctr"/>
          <a:lstStyle/>
          <a:p>
            <a:pPr indent="0" marL="0">
              <a:buNone/>
            </a:pPr>
            <a:r>
              <a:rPr lang="en-US" sz="1200" dirty="0">
                <a:solidFill>
                  <a:srgbClr val="1C1917"/>
                </a:solidFill>
                <a:latin typeface="Georgia" pitchFamily="34" charset="0"/>
                <a:ea typeface="Georgia" pitchFamily="34" charset="-122"/>
                <a:cs typeface="Georgia" pitchFamily="34" charset="-120"/>
              </a:rPr>
              <a:t>Dual output</a:t>
            </a:r>
            <a:endParaRPr lang="en-US" sz="1200" dirty="0"/>
          </a:p>
        </p:txBody>
      </p:sp>
      <p:sp>
        <p:nvSpPr>
          <p:cNvPr id="18" name="Text 15"/>
          <p:cNvSpPr/>
          <p:nvPr/>
        </p:nvSpPr>
        <p:spPr>
          <a:xfrm>
            <a:off x="5852160" y="4288536"/>
            <a:ext cx="2834640" cy="566928"/>
          </a:xfrm>
          <a:prstGeom prst="rect">
            <a:avLst/>
          </a:prstGeom>
          <a:noFill/>
          <a:ln/>
        </p:spPr>
        <p:txBody>
          <a:bodyPr wrap="square" rtlCol="0" anchor="ctr"/>
          <a:lstStyle/>
          <a:p>
            <a:pPr indent="0" marL="0">
              <a:lnSpc>
                <a:spcPct val="150000"/>
              </a:lnSpc>
              <a:buNone/>
            </a:pPr>
            <a:r>
              <a:rPr lang="en-US" sz="850" dirty="0">
                <a:solidFill>
                  <a:srgbClr val="8C8680"/>
                </a:solidFill>
                <a:latin typeface="Courier New" pitchFamily="34" charset="0"/>
                <a:ea typeface="Courier New" pitchFamily="34" charset="-122"/>
                <a:cs typeface="Courier New" pitchFamily="34" charset="-120"/>
              </a:rPr>
              <a:t>Both field classification and novelty were trained together with a combined loss function.</a:t>
            </a:r>
            <a:endParaRPr lang="en-US" sz="850" dirty="0"/>
          </a:p>
        </p:txBody>
      </p:sp>
      <p:sp>
        <p:nvSpPr>
          <p:cNvPr id="19" name="Text 16"/>
          <p:cNvSpPr/>
          <p:nvPr/>
        </p:nvSpPr>
        <p:spPr>
          <a:xfrm>
            <a:off x="8046720" y="4892040"/>
            <a:ext cx="914400" cy="182880"/>
          </a:xfrm>
          <a:prstGeom prst="rect">
            <a:avLst/>
          </a:prstGeom>
          <a:noFill/>
          <a:ln/>
        </p:spPr>
        <p:txBody>
          <a:bodyPr wrap="square" rtlCol="0" anchor="ctr"/>
          <a:lstStyle/>
          <a:p>
            <a:pPr algn="r" indent="0" marL="0">
              <a:buNone/>
            </a:pPr>
            <a:r>
              <a:rPr lang="en-US" sz="800" dirty="0">
                <a:solidFill>
                  <a:srgbClr val="D4CFC8"/>
                </a:solidFill>
                <a:latin typeface="Courier New" pitchFamily="34" charset="0"/>
                <a:ea typeface="Courier New" pitchFamily="34" charset="-122"/>
                <a:cs typeface="Courier New" pitchFamily="34" charset="-120"/>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457200" y="320040"/>
            <a:ext cx="685800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05 — THE 4-AGENT SYSTEM</a:t>
            </a:r>
            <a:endParaRPr lang="en-US" sz="800" dirty="0"/>
          </a:p>
        </p:txBody>
      </p:sp>
      <p:sp>
        <p:nvSpPr>
          <p:cNvPr id="3" name="Shape 1"/>
          <p:cNvSpPr/>
          <p:nvPr/>
        </p:nvSpPr>
        <p:spPr>
          <a:xfrm>
            <a:off x="457200" y="548640"/>
            <a:ext cx="8229600" cy="0"/>
          </a:xfrm>
          <a:prstGeom prst="line">
            <a:avLst/>
          </a:prstGeom>
          <a:noFill/>
          <a:ln w="6350">
            <a:solidFill>
              <a:srgbClr val="D4CFC8"/>
            </a:solidFill>
            <a:prstDash val="solid"/>
          </a:ln>
        </p:spPr>
      </p:sp>
      <p:sp>
        <p:nvSpPr>
          <p:cNvPr id="4" name="Text 2"/>
          <p:cNvSpPr/>
          <p:nvPr/>
        </p:nvSpPr>
        <p:spPr>
          <a:xfrm>
            <a:off x="457200" y="685800"/>
            <a:ext cx="8229600" cy="868680"/>
          </a:xfrm>
          <a:prstGeom prst="rect">
            <a:avLst/>
          </a:prstGeom>
          <a:noFill/>
          <a:ln/>
        </p:spPr>
        <p:txBody>
          <a:bodyPr wrap="square" rtlCol="0" anchor="ctr"/>
          <a:lstStyle/>
          <a:p>
            <a:pPr indent="0" marL="0">
              <a:lnSpc>
                <a:spcPct val="115000"/>
              </a:lnSpc>
              <a:buNone/>
            </a:pPr>
            <a:r>
              <a:rPr lang="en-US" sz="2800" dirty="0">
                <a:solidFill>
                  <a:srgbClr val="1C1917"/>
                </a:solidFill>
                <a:latin typeface="Georgia" pitchFamily="34" charset="0"/>
                <a:ea typeface="Georgia" pitchFamily="34" charset="-122"/>
                <a:cs typeface="Georgia" pitchFamily="34" charset="-120"/>
              </a:rPr>
              <a:t>Four agents. Each has one job.</a:t>
            </a:r>
            <a:endParaRPr lang="en-US" sz="2800" dirty="0"/>
          </a:p>
          <a:p>
            <a:pPr indent="0" marL="0">
              <a:lnSpc>
                <a:spcPct val="115000"/>
              </a:lnSpc>
              <a:buNone/>
            </a:pPr>
            <a:r>
              <a:rPr lang="en-US" sz="2800" dirty="0">
                <a:solidFill>
                  <a:srgbClr val="1C1917"/>
                </a:solidFill>
                <a:latin typeface="Georgia" pitchFamily="34" charset="0"/>
                <a:ea typeface="Georgia" pitchFamily="34" charset="-122"/>
                <a:cs typeface="Georgia" pitchFamily="34" charset="-120"/>
              </a:rPr>
              <a:t>Each passes results to the next.</a:t>
            </a:r>
            <a:endParaRPr lang="en-US" sz="2800" dirty="0"/>
          </a:p>
        </p:txBody>
      </p:sp>
      <p:sp>
        <p:nvSpPr>
          <p:cNvPr id="5" name="Shape 3"/>
          <p:cNvSpPr/>
          <p:nvPr/>
        </p:nvSpPr>
        <p:spPr>
          <a:xfrm>
            <a:off x="457200" y="1719072"/>
            <a:ext cx="2011680" cy="3246120"/>
          </a:xfrm>
          <a:prstGeom prst="rect">
            <a:avLst/>
          </a:prstGeom>
          <a:solidFill>
            <a:srgbClr val="FFFFFF"/>
          </a:solidFill>
          <a:ln w="12700">
            <a:solidFill>
              <a:srgbClr val="D4CFC8"/>
            </a:solidFill>
            <a:prstDash val="solid"/>
          </a:ln>
        </p:spPr>
      </p:sp>
      <p:sp>
        <p:nvSpPr>
          <p:cNvPr id="6" name="Shape 4"/>
          <p:cNvSpPr/>
          <p:nvPr/>
        </p:nvSpPr>
        <p:spPr>
          <a:xfrm>
            <a:off x="457200" y="1719072"/>
            <a:ext cx="2011680" cy="45720"/>
          </a:xfrm>
          <a:prstGeom prst="rect">
            <a:avLst/>
          </a:prstGeom>
          <a:solidFill>
            <a:srgbClr val="C4441C"/>
          </a:solidFill>
          <a:ln w="12700">
            <a:solidFill>
              <a:srgbClr val="C4441C"/>
            </a:solidFill>
            <a:prstDash val="solid"/>
          </a:ln>
        </p:spPr>
      </p:sp>
      <p:sp>
        <p:nvSpPr>
          <p:cNvPr id="7" name="Text 5"/>
          <p:cNvSpPr/>
          <p:nvPr/>
        </p:nvSpPr>
        <p:spPr>
          <a:xfrm>
            <a:off x="566928" y="1810512"/>
            <a:ext cx="1737360" cy="347472"/>
          </a:xfrm>
          <a:prstGeom prst="rect">
            <a:avLst/>
          </a:prstGeom>
          <a:noFill/>
          <a:ln/>
        </p:spPr>
        <p:txBody>
          <a:bodyPr wrap="square" rtlCol="0" anchor="ctr"/>
          <a:lstStyle/>
          <a:p>
            <a:pPr indent="0" marL="0">
              <a:buNone/>
            </a:pPr>
            <a:r>
              <a:rPr lang="en-US" sz="2000" dirty="0">
                <a:solidFill>
                  <a:srgbClr val="C4441C"/>
                </a:solidFill>
                <a:latin typeface="Courier New" pitchFamily="34" charset="0"/>
                <a:ea typeface="Courier New" pitchFamily="34" charset="-122"/>
                <a:cs typeface="Courier New" pitchFamily="34" charset="-120"/>
              </a:rPr>
              <a:t>01</a:t>
            </a:r>
            <a:endParaRPr lang="en-US" sz="2000" dirty="0"/>
          </a:p>
        </p:txBody>
      </p:sp>
      <p:sp>
        <p:nvSpPr>
          <p:cNvPr id="8" name="Text 6"/>
          <p:cNvSpPr/>
          <p:nvPr/>
        </p:nvSpPr>
        <p:spPr>
          <a:xfrm>
            <a:off x="566928" y="2194560"/>
            <a:ext cx="1737360" cy="292608"/>
          </a:xfrm>
          <a:prstGeom prst="rect">
            <a:avLst/>
          </a:prstGeom>
          <a:noFill/>
          <a:ln/>
        </p:spPr>
        <p:txBody>
          <a:bodyPr wrap="square" rtlCol="0" anchor="ctr"/>
          <a:lstStyle/>
          <a:p>
            <a:pPr indent="0" marL="0">
              <a:buNone/>
            </a:pPr>
            <a:r>
              <a:rPr lang="en-US" sz="1500" dirty="0">
                <a:solidFill>
                  <a:srgbClr val="1C1917"/>
                </a:solidFill>
                <a:latin typeface="Georgia" pitchFamily="34" charset="0"/>
                <a:ea typeface="Georgia" pitchFamily="34" charset="-122"/>
                <a:cs typeface="Georgia" pitchFamily="34" charset="-120"/>
              </a:rPr>
              <a:t>Classifier</a:t>
            </a:r>
            <a:endParaRPr lang="en-US" sz="1500" dirty="0"/>
          </a:p>
        </p:txBody>
      </p:sp>
      <p:sp>
        <p:nvSpPr>
          <p:cNvPr id="9" name="Shape 7"/>
          <p:cNvSpPr/>
          <p:nvPr/>
        </p:nvSpPr>
        <p:spPr>
          <a:xfrm>
            <a:off x="566928" y="2523744"/>
            <a:ext cx="1737360" cy="0"/>
          </a:xfrm>
          <a:prstGeom prst="line">
            <a:avLst/>
          </a:prstGeom>
          <a:noFill/>
          <a:ln w="6350">
            <a:solidFill>
              <a:srgbClr val="D4CFC8"/>
            </a:solidFill>
            <a:prstDash val="solid"/>
          </a:ln>
        </p:spPr>
      </p:sp>
      <p:sp>
        <p:nvSpPr>
          <p:cNvPr id="10" name="Text 8"/>
          <p:cNvSpPr/>
          <p:nvPr/>
        </p:nvSpPr>
        <p:spPr>
          <a:xfrm>
            <a:off x="566928" y="2596896"/>
            <a:ext cx="1737360" cy="777240"/>
          </a:xfrm>
          <a:prstGeom prst="rect">
            <a:avLst/>
          </a:prstGeom>
          <a:noFill/>
          <a:ln/>
        </p:spPr>
        <p:txBody>
          <a:bodyPr wrap="square" rtlCol="0" anchor="ctr"/>
          <a:lstStyle/>
          <a:p>
            <a:pPr indent="0" marL="0">
              <a:lnSpc>
                <a:spcPct val="150000"/>
              </a:lnSpc>
              <a:buNone/>
            </a:pPr>
            <a:r>
              <a:rPr lang="en-US" sz="800" dirty="0">
                <a:solidFill>
                  <a:srgbClr val="8C8680"/>
                </a:solidFill>
                <a:latin typeface="Courier New" pitchFamily="34" charset="0"/>
                <a:ea typeface="Courier New" pitchFamily="34" charset="-122"/>
                <a:cs typeface="Courier New" pitchFamily="34" charset="-120"/>
              </a:rPr>
              <a:t>Confirms or corrects the TextCNN field using LLM reasoning on the abstract.</a:t>
            </a:r>
            <a:endParaRPr lang="en-US" sz="800" dirty="0"/>
          </a:p>
        </p:txBody>
      </p:sp>
      <p:sp>
        <p:nvSpPr>
          <p:cNvPr id="11" name="Shape 9"/>
          <p:cNvSpPr/>
          <p:nvPr/>
        </p:nvSpPr>
        <p:spPr>
          <a:xfrm>
            <a:off x="566928" y="3401568"/>
            <a:ext cx="1737360" cy="0"/>
          </a:xfrm>
          <a:prstGeom prst="line">
            <a:avLst/>
          </a:prstGeom>
          <a:noFill/>
          <a:ln w="6350">
            <a:solidFill>
              <a:srgbClr val="D4CFC8"/>
            </a:solidFill>
            <a:prstDash val="solid"/>
          </a:ln>
        </p:spPr>
      </p:sp>
      <p:sp>
        <p:nvSpPr>
          <p:cNvPr id="12" name="Text 10"/>
          <p:cNvSpPr/>
          <p:nvPr/>
        </p:nvSpPr>
        <p:spPr>
          <a:xfrm>
            <a:off x="566928" y="3474720"/>
            <a:ext cx="1737360" cy="868680"/>
          </a:xfrm>
          <a:prstGeom prst="rect">
            <a:avLst/>
          </a:prstGeom>
          <a:noFill/>
          <a:ln/>
        </p:spPr>
        <p:txBody>
          <a:bodyPr wrap="square" rtlCol="0" anchor="ctr"/>
          <a:lstStyle/>
          <a:p>
            <a:pPr indent="0" marL="0">
              <a:lnSpc>
                <a:spcPct val="140000"/>
              </a:lnSpc>
              <a:buNone/>
            </a:pPr>
            <a:r>
              <a:rPr lang="en-US" sz="750" dirty="0">
                <a:solidFill>
                  <a:srgbClr val="C4441C"/>
                </a:solidFill>
                <a:latin typeface="Courier New" pitchFamily="34" charset="0"/>
                <a:ea typeface="Courier New" pitchFamily="34" charset="-122"/>
                <a:cs typeface="Courier New" pitchFamily="34" charset="-120"/>
              </a:rPr>
              <a:t>TextCNN said: Quantitative Biology (18%)</a:t>
            </a:r>
            <a:endParaRPr lang="en-US" sz="750" dirty="0"/>
          </a:p>
          <a:p>
            <a:pPr indent="0" marL="0">
              <a:lnSpc>
                <a:spcPct val="140000"/>
              </a:lnSpc>
              <a:buNone/>
            </a:pPr>
            <a:r>
              <a:rPr lang="en-US" sz="750" dirty="0">
                <a:solidFill>
                  <a:srgbClr val="C4441C"/>
                </a:solidFill>
                <a:latin typeface="Courier New" pitchFamily="34" charset="0"/>
                <a:ea typeface="Courier New" pitchFamily="34" charset="-122"/>
                <a:cs typeface="Courier New" pitchFamily="34" charset="-120"/>
              </a:rPr>
              <a:t>Agent 1 says: Corrected Field: Mathematical Physics</a:t>
            </a:r>
            <a:endParaRPr lang="en-US" sz="750" dirty="0"/>
          </a:p>
        </p:txBody>
      </p:sp>
      <p:sp>
        <p:nvSpPr>
          <p:cNvPr id="13" name="Shape 11"/>
          <p:cNvSpPr/>
          <p:nvPr/>
        </p:nvSpPr>
        <p:spPr>
          <a:xfrm>
            <a:off x="566928" y="4370832"/>
            <a:ext cx="1737360" cy="0"/>
          </a:xfrm>
          <a:prstGeom prst="line">
            <a:avLst/>
          </a:prstGeom>
          <a:noFill/>
          <a:ln w="6350">
            <a:solidFill>
              <a:srgbClr val="D4CFC8"/>
            </a:solidFill>
            <a:prstDash val="solid"/>
          </a:ln>
        </p:spPr>
      </p:sp>
      <p:sp>
        <p:nvSpPr>
          <p:cNvPr id="14" name="Text 12"/>
          <p:cNvSpPr/>
          <p:nvPr/>
        </p:nvSpPr>
        <p:spPr>
          <a:xfrm>
            <a:off x="566928" y="4434840"/>
            <a:ext cx="1737360" cy="411480"/>
          </a:xfrm>
          <a:prstGeom prst="rect">
            <a:avLst/>
          </a:prstGeom>
          <a:noFill/>
          <a:ln/>
        </p:spPr>
        <p:txBody>
          <a:bodyPr wrap="square" rtlCol="0" anchor="ctr"/>
          <a:lstStyle/>
          <a:p>
            <a:pPr indent="0" marL="0">
              <a:lnSpc>
                <a:spcPct val="140000"/>
              </a:lnSpc>
              <a:buNone/>
            </a:pPr>
            <a:r>
              <a:rPr lang="en-US" sz="750" dirty="0">
                <a:solidFill>
                  <a:srgbClr val="8C8680"/>
                </a:solidFill>
                <a:latin typeface="Courier New" pitchFamily="34" charset="0"/>
                <a:ea typeface="Courier New" pitchFamily="34" charset="-122"/>
                <a:cs typeface="Courier New" pitchFamily="34" charset="-120"/>
              </a:rPr>
              <a:t>If the field is wrong here, everything after it is wrong.</a:t>
            </a:r>
            <a:endParaRPr lang="en-US" sz="750" dirty="0"/>
          </a:p>
        </p:txBody>
      </p:sp>
      <p:sp>
        <p:nvSpPr>
          <p:cNvPr id="15" name="Shape 13"/>
          <p:cNvSpPr/>
          <p:nvPr/>
        </p:nvSpPr>
        <p:spPr>
          <a:xfrm>
            <a:off x="2633472" y="1719072"/>
            <a:ext cx="2011680" cy="3246120"/>
          </a:xfrm>
          <a:prstGeom prst="rect">
            <a:avLst/>
          </a:prstGeom>
          <a:solidFill>
            <a:srgbClr val="E8E4DE"/>
          </a:solidFill>
          <a:ln w="12700">
            <a:solidFill>
              <a:srgbClr val="D4CFC8"/>
            </a:solidFill>
            <a:prstDash val="solid"/>
          </a:ln>
        </p:spPr>
      </p:sp>
      <p:sp>
        <p:nvSpPr>
          <p:cNvPr id="16" name="Shape 14"/>
          <p:cNvSpPr/>
          <p:nvPr/>
        </p:nvSpPr>
        <p:spPr>
          <a:xfrm>
            <a:off x="2633472" y="1719072"/>
            <a:ext cx="2011680" cy="45720"/>
          </a:xfrm>
          <a:prstGeom prst="rect">
            <a:avLst/>
          </a:prstGeom>
          <a:solidFill>
            <a:srgbClr val="0F5F5F"/>
          </a:solidFill>
          <a:ln w="12700">
            <a:solidFill>
              <a:srgbClr val="0F5F5F"/>
            </a:solidFill>
            <a:prstDash val="solid"/>
          </a:ln>
        </p:spPr>
      </p:sp>
      <p:sp>
        <p:nvSpPr>
          <p:cNvPr id="17" name="Text 15"/>
          <p:cNvSpPr/>
          <p:nvPr/>
        </p:nvSpPr>
        <p:spPr>
          <a:xfrm>
            <a:off x="2743200" y="1810512"/>
            <a:ext cx="1737360" cy="347472"/>
          </a:xfrm>
          <a:prstGeom prst="rect">
            <a:avLst/>
          </a:prstGeom>
          <a:noFill/>
          <a:ln/>
        </p:spPr>
        <p:txBody>
          <a:bodyPr wrap="square" rtlCol="0" anchor="ctr"/>
          <a:lstStyle/>
          <a:p>
            <a:pPr indent="0" marL="0">
              <a:buNone/>
            </a:pPr>
            <a:r>
              <a:rPr lang="en-US" sz="2000" dirty="0">
                <a:solidFill>
                  <a:srgbClr val="0F5F5F"/>
                </a:solidFill>
                <a:latin typeface="Courier New" pitchFamily="34" charset="0"/>
                <a:ea typeface="Courier New" pitchFamily="34" charset="-122"/>
                <a:cs typeface="Courier New" pitchFamily="34" charset="-120"/>
              </a:rPr>
              <a:t>02</a:t>
            </a:r>
            <a:endParaRPr lang="en-US" sz="2000" dirty="0"/>
          </a:p>
        </p:txBody>
      </p:sp>
      <p:sp>
        <p:nvSpPr>
          <p:cNvPr id="18" name="Text 16"/>
          <p:cNvSpPr/>
          <p:nvPr/>
        </p:nvSpPr>
        <p:spPr>
          <a:xfrm>
            <a:off x="2743200" y="2194560"/>
            <a:ext cx="1737360" cy="292608"/>
          </a:xfrm>
          <a:prstGeom prst="rect">
            <a:avLst/>
          </a:prstGeom>
          <a:noFill/>
          <a:ln/>
        </p:spPr>
        <p:txBody>
          <a:bodyPr wrap="square" rtlCol="0" anchor="ctr"/>
          <a:lstStyle/>
          <a:p>
            <a:pPr indent="0" marL="0">
              <a:buNone/>
            </a:pPr>
            <a:r>
              <a:rPr lang="en-US" sz="1500" dirty="0">
                <a:solidFill>
                  <a:srgbClr val="1C1917"/>
                </a:solidFill>
                <a:latin typeface="Georgia" pitchFamily="34" charset="0"/>
                <a:ea typeface="Georgia" pitchFamily="34" charset="-122"/>
                <a:cs typeface="Georgia" pitchFamily="34" charset="-120"/>
              </a:rPr>
              <a:t>Extraction</a:t>
            </a:r>
            <a:endParaRPr lang="en-US" sz="1500" dirty="0"/>
          </a:p>
        </p:txBody>
      </p:sp>
      <p:sp>
        <p:nvSpPr>
          <p:cNvPr id="19" name="Shape 17"/>
          <p:cNvSpPr/>
          <p:nvPr/>
        </p:nvSpPr>
        <p:spPr>
          <a:xfrm>
            <a:off x="2743200" y="2523744"/>
            <a:ext cx="1737360" cy="0"/>
          </a:xfrm>
          <a:prstGeom prst="line">
            <a:avLst/>
          </a:prstGeom>
          <a:noFill/>
          <a:ln w="6350">
            <a:solidFill>
              <a:srgbClr val="D4CFC8"/>
            </a:solidFill>
            <a:prstDash val="solid"/>
          </a:ln>
        </p:spPr>
      </p:sp>
      <p:sp>
        <p:nvSpPr>
          <p:cNvPr id="20" name="Text 18"/>
          <p:cNvSpPr/>
          <p:nvPr/>
        </p:nvSpPr>
        <p:spPr>
          <a:xfrm>
            <a:off x="2743200" y="2596896"/>
            <a:ext cx="1737360" cy="777240"/>
          </a:xfrm>
          <a:prstGeom prst="rect">
            <a:avLst/>
          </a:prstGeom>
          <a:noFill/>
          <a:ln/>
        </p:spPr>
        <p:txBody>
          <a:bodyPr wrap="square" rtlCol="0" anchor="ctr"/>
          <a:lstStyle/>
          <a:p>
            <a:pPr indent="0" marL="0">
              <a:lnSpc>
                <a:spcPct val="150000"/>
              </a:lnSpc>
              <a:buNone/>
            </a:pPr>
            <a:r>
              <a:rPr lang="en-US" sz="800" dirty="0">
                <a:solidFill>
                  <a:srgbClr val="8C8680"/>
                </a:solidFill>
                <a:latin typeface="Courier New" pitchFamily="34" charset="0"/>
                <a:ea typeface="Courier New" pitchFamily="34" charset="-122"/>
                <a:cs typeface="Courier New" pitchFamily="34" charset="-120"/>
              </a:rPr>
              <a:t>Extracts 6 things: research question, methodology, key results, datasets, limitations, reproducibility.</a:t>
            </a:r>
            <a:endParaRPr lang="en-US" sz="800" dirty="0"/>
          </a:p>
        </p:txBody>
      </p:sp>
      <p:sp>
        <p:nvSpPr>
          <p:cNvPr id="21" name="Shape 19"/>
          <p:cNvSpPr/>
          <p:nvPr/>
        </p:nvSpPr>
        <p:spPr>
          <a:xfrm>
            <a:off x="2743200" y="3401568"/>
            <a:ext cx="1737360" cy="0"/>
          </a:xfrm>
          <a:prstGeom prst="line">
            <a:avLst/>
          </a:prstGeom>
          <a:noFill/>
          <a:ln w="6350">
            <a:solidFill>
              <a:srgbClr val="D4CFC8"/>
            </a:solidFill>
            <a:prstDash val="solid"/>
          </a:ln>
        </p:spPr>
      </p:sp>
      <p:sp>
        <p:nvSpPr>
          <p:cNvPr id="22" name="Text 20"/>
          <p:cNvSpPr/>
          <p:nvPr/>
        </p:nvSpPr>
        <p:spPr>
          <a:xfrm>
            <a:off x="2743200" y="3474720"/>
            <a:ext cx="1737360" cy="868680"/>
          </a:xfrm>
          <a:prstGeom prst="rect">
            <a:avLst/>
          </a:prstGeom>
          <a:noFill/>
          <a:ln/>
        </p:spPr>
        <p:txBody>
          <a:bodyPr wrap="square" rtlCol="0" anchor="ctr"/>
          <a:lstStyle/>
          <a:p>
            <a:pPr indent="0" marL="0">
              <a:lnSpc>
                <a:spcPct val="140000"/>
              </a:lnSpc>
              <a:buNone/>
            </a:pPr>
            <a:r>
              <a:rPr lang="en-US" sz="750" dirty="0">
                <a:solidFill>
                  <a:srgbClr val="0F5F5F"/>
                </a:solidFill>
                <a:latin typeface="Courier New" pitchFamily="34" charset="0"/>
                <a:ea typeface="Courier New" pitchFamily="34" charset="-122"/>
                <a:cs typeface="Courier New" pitchFamily="34" charset="-120"/>
              </a:rPr>
              <a:t>Uses the corrected field to tailor the analysis — Math papers get different questions than CS papers.</a:t>
            </a:r>
            <a:endParaRPr lang="en-US" sz="750" dirty="0"/>
          </a:p>
        </p:txBody>
      </p:sp>
      <p:sp>
        <p:nvSpPr>
          <p:cNvPr id="23" name="Shape 21"/>
          <p:cNvSpPr/>
          <p:nvPr/>
        </p:nvSpPr>
        <p:spPr>
          <a:xfrm>
            <a:off x="2743200" y="4370832"/>
            <a:ext cx="1737360" cy="0"/>
          </a:xfrm>
          <a:prstGeom prst="line">
            <a:avLst/>
          </a:prstGeom>
          <a:noFill/>
          <a:ln w="6350">
            <a:solidFill>
              <a:srgbClr val="D4CFC8"/>
            </a:solidFill>
            <a:prstDash val="solid"/>
          </a:ln>
        </p:spPr>
      </p:sp>
      <p:sp>
        <p:nvSpPr>
          <p:cNvPr id="24" name="Text 22"/>
          <p:cNvSpPr/>
          <p:nvPr/>
        </p:nvSpPr>
        <p:spPr>
          <a:xfrm>
            <a:off x="2743200" y="4434840"/>
            <a:ext cx="1737360" cy="411480"/>
          </a:xfrm>
          <a:prstGeom prst="rect">
            <a:avLst/>
          </a:prstGeom>
          <a:noFill/>
          <a:ln/>
        </p:spPr>
        <p:txBody>
          <a:bodyPr wrap="square" rtlCol="0" anchor="ctr"/>
          <a:lstStyle/>
          <a:p>
            <a:pPr indent="0" marL="0">
              <a:lnSpc>
                <a:spcPct val="140000"/>
              </a:lnSpc>
              <a:buNone/>
            </a:pPr>
            <a:r>
              <a:rPr lang="en-US" sz="750" dirty="0">
                <a:solidFill>
                  <a:srgbClr val="8C8680"/>
                </a:solidFill>
                <a:latin typeface="Courier New" pitchFamily="34" charset="0"/>
                <a:ea typeface="Courier New" pitchFamily="34" charset="-122"/>
                <a:cs typeface="Courier New" pitchFamily="34" charset="-120"/>
              </a:rPr>
              <a:t>Structured extraction that agents 3 and 4 depend on.</a:t>
            </a:r>
            <a:endParaRPr lang="en-US" sz="750" dirty="0"/>
          </a:p>
        </p:txBody>
      </p:sp>
      <p:sp>
        <p:nvSpPr>
          <p:cNvPr id="25" name="Shape 23"/>
          <p:cNvSpPr/>
          <p:nvPr/>
        </p:nvSpPr>
        <p:spPr>
          <a:xfrm>
            <a:off x="4809744" y="1719072"/>
            <a:ext cx="2011680" cy="3246120"/>
          </a:xfrm>
          <a:prstGeom prst="rect">
            <a:avLst/>
          </a:prstGeom>
          <a:solidFill>
            <a:srgbClr val="FFFFFF"/>
          </a:solidFill>
          <a:ln w="12700">
            <a:solidFill>
              <a:srgbClr val="D4CFC8"/>
            </a:solidFill>
            <a:prstDash val="solid"/>
          </a:ln>
        </p:spPr>
      </p:sp>
      <p:sp>
        <p:nvSpPr>
          <p:cNvPr id="26" name="Shape 24"/>
          <p:cNvSpPr/>
          <p:nvPr/>
        </p:nvSpPr>
        <p:spPr>
          <a:xfrm>
            <a:off x="4809744" y="1719072"/>
            <a:ext cx="2011680" cy="45720"/>
          </a:xfrm>
          <a:prstGeom prst="rect">
            <a:avLst/>
          </a:prstGeom>
          <a:solidFill>
            <a:srgbClr val="2D5016"/>
          </a:solidFill>
          <a:ln w="12700">
            <a:solidFill>
              <a:srgbClr val="2D5016"/>
            </a:solidFill>
            <a:prstDash val="solid"/>
          </a:ln>
        </p:spPr>
      </p:sp>
      <p:sp>
        <p:nvSpPr>
          <p:cNvPr id="27" name="Text 25"/>
          <p:cNvSpPr/>
          <p:nvPr/>
        </p:nvSpPr>
        <p:spPr>
          <a:xfrm>
            <a:off x="4919472" y="1810512"/>
            <a:ext cx="1737360" cy="347472"/>
          </a:xfrm>
          <a:prstGeom prst="rect">
            <a:avLst/>
          </a:prstGeom>
          <a:noFill/>
          <a:ln/>
        </p:spPr>
        <p:txBody>
          <a:bodyPr wrap="square" rtlCol="0" anchor="ctr"/>
          <a:lstStyle/>
          <a:p>
            <a:pPr indent="0" marL="0">
              <a:buNone/>
            </a:pPr>
            <a:r>
              <a:rPr lang="en-US" sz="2000" dirty="0">
                <a:solidFill>
                  <a:srgbClr val="2D5016"/>
                </a:solidFill>
                <a:latin typeface="Courier New" pitchFamily="34" charset="0"/>
                <a:ea typeface="Courier New" pitchFamily="34" charset="-122"/>
                <a:cs typeface="Courier New" pitchFamily="34" charset="-120"/>
              </a:rPr>
              <a:t>03</a:t>
            </a:r>
            <a:endParaRPr lang="en-US" sz="2000" dirty="0"/>
          </a:p>
        </p:txBody>
      </p:sp>
      <p:sp>
        <p:nvSpPr>
          <p:cNvPr id="28" name="Text 26"/>
          <p:cNvSpPr/>
          <p:nvPr/>
        </p:nvSpPr>
        <p:spPr>
          <a:xfrm>
            <a:off x="4919472" y="2194560"/>
            <a:ext cx="1737360" cy="292608"/>
          </a:xfrm>
          <a:prstGeom prst="rect">
            <a:avLst/>
          </a:prstGeom>
          <a:noFill/>
          <a:ln/>
        </p:spPr>
        <p:txBody>
          <a:bodyPr wrap="square" rtlCol="0" anchor="ctr"/>
          <a:lstStyle/>
          <a:p>
            <a:pPr indent="0" marL="0">
              <a:buNone/>
            </a:pPr>
            <a:r>
              <a:rPr lang="en-US" sz="1500" dirty="0">
                <a:solidFill>
                  <a:srgbClr val="1C1917"/>
                </a:solidFill>
                <a:latin typeface="Georgia" pitchFamily="34" charset="0"/>
                <a:ea typeface="Georgia" pitchFamily="34" charset="-122"/>
                <a:cs typeface="Georgia" pitchFamily="34" charset="-120"/>
              </a:rPr>
              <a:t>Citation</a:t>
            </a:r>
            <a:endParaRPr lang="en-US" sz="1500" dirty="0"/>
          </a:p>
        </p:txBody>
      </p:sp>
      <p:sp>
        <p:nvSpPr>
          <p:cNvPr id="29" name="Shape 27"/>
          <p:cNvSpPr/>
          <p:nvPr/>
        </p:nvSpPr>
        <p:spPr>
          <a:xfrm>
            <a:off x="4919472" y="2523744"/>
            <a:ext cx="1737360" cy="0"/>
          </a:xfrm>
          <a:prstGeom prst="line">
            <a:avLst/>
          </a:prstGeom>
          <a:noFill/>
          <a:ln w="6350">
            <a:solidFill>
              <a:srgbClr val="D4CFC8"/>
            </a:solidFill>
            <a:prstDash val="solid"/>
          </a:ln>
        </p:spPr>
      </p:sp>
      <p:sp>
        <p:nvSpPr>
          <p:cNvPr id="30" name="Text 28"/>
          <p:cNvSpPr/>
          <p:nvPr/>
        </p:nvSpPr>
        <p:spPr>
          <a:xfrm>
            <a:off x="4919472" y="2596896"/>
            <a:ext cx="1737360" cy="777240"/>
          </a:xfrm>
          <a:prstGeom prst="rect">
            <a:avLst/>
          </a:prstGeom>
          <a:noFill/>
          <a:ln/>
        </p:spPr>
        <p:txBody>
          <a:bodyPr wrap="square" rtlCol="0" anchor="ctr"/>
          <a:lstStyle/>
          <a:p>
            <a:pPr indent="0" marL="0">
              <a:lnSpc>
                <a:spcPct val="150000"/>
              </a:lnSpc>
              <a:buNone/>
            </a:pPr>
            <a:r>
              <a:rPr lang="en-US" sz="800" dirty="0">
                <a:solidFill>
                  <a:srgbClr val="8C8680"/>
                </a:solidFill>
                <a:latin typeface="Courier New" pitchFamily="34" charset="0"/>
                <a:ea typeface="Courier New" pitchFamily="34" charset="-122"/>
                <a:cs typeface="Courier New" pitchFamily="34" charset="-120"/>
              </a:rPr>
              <a:t>Analyzes references, uses Semantic Scholar data, identifies missing citations, scores quality 1-10.</a:t>
            </a:r>
            <a:endParaRPr lang="en-US" sz="800" dirty="0"/>
          </a:p>
        </p:txBody>
      </p:sp>
      <p:sp>
        <p:nvSpPr>
          <p:cNvPr id="31" name="Shape 29"/>
          <p:cNvSpPr/>
          <p:nvPr/>
        </p:nvSpPr>
        <p:spPr>
          <a:xfrm>
            <a:off x="4919472" y="3401568"/>
            <a:ext cx="1737360" cy="0"/>
          </a:xfrm>
          <a:prstGeom prst="line">
            <a:avLst/>
          </a:prstGeom>
          <a:noFill/>
          <a:ln w="6350">
            <a:solidFill>
              <a:srgbClr val="D4CFC8"/>
            </a:solidFill>
            <a:prstDash val="solid"/>
          </a:ln>
        </p:spPr>
      </p:sp>
      <p:sp>
        <p:nvSpPr>
          <p:cNvPr id="32" name="Text 30"/>
          <p:cNvSpPr/>
          <p:nvPr/>
        </p:nvSpPr>
        <p:spPr>
          <a:xfrm>
            <a:off x="4919472" y="3474720"/>
            <a:ext cx="1737360" cy="868680"/>
          </a:xfrm>
          <a:prstGeom prst="rect">
            <a:avLst/>
          </a:prstGeom>
          <a:noFill/>
          <a:ln/>
        </p:spPr>
        <p:txBody>
          <a:bodyPr wrap="square" rtlCol="0" anchor="ctr"/>
          <a:lstStyle/>
          <a:p>
            <a:pPr indent="0" marL="0">
              <a:lnSpc>
                <a:spcPct val="140000"/>
              </a:lnSpc>
              <a:buNone/>
            </a:pPr>
            <a:r>
              <a:rPr lang="en-US" sz="750" dirty="0">
                <a:solidFill>
                  <a:srgbClr val="2D5016"/>
                </a:solidFill>
                <a:latin typeface="Courier New" pitchFamily="34" charset="0"/>
                <a:ea typeface="Courier New" pitchFamily="34" charset="-122"/>
                <a:cs typeface="Courier New" pitchFamily="34" charset="-120"/>
              </a:rPr>
              <a:t>30 references found. Missing: Kalnins et al. 2015, Tempesta et al. 2011.</a:t>
            </a:r>
            <a:endParaRPr lang="en-US" sz="750" dirty="0"/>
          </a:p>
          <a:p>
            <a:pPr indent="0" marL="0">
              <a:lnSpc>
                <a:spcPct val="140000"/>
              </a:lnSpc>
              <a:buNone/>
            </a:pPr>
            <a:r>
              <a:rPr lang="en-US" sz="750" dirty="0">
                <a:solidFill>
                  <a:srgbClr val="2D5016"/>
                </a:solidFill>
                <a:latin typeface="Courier New" pitchFamily="34" charset="0"/>
                <a:ea typeface="Courier New" pitchFamily="34" charset="-122"/>
                <a:cs typeface="Courier New" pitchFamily="34" charset="-120"/>
              </a:rPr>
              <a:t>Citation score: 7 / 10</a:t>
            </a:r>
            <a:endParaRPr lang="en-US" sz="750" dirty="0"/>
          </a:p>
        </p:txBody>
      </p:sp>
      <p:sp>
        <p:nvSpPr>
          <p:cNvPr id="33" name="Shape 31"/>
          <p:cNvSpPr/>
          <p:nvPr/>
        </p:nvSpPr>
        <p:spPr>
          <a:xfrm>
            <a:off x="4919472" y="4370832"/>
            <a:ext cx="1737360" cy="0"/>
          </a:xfrm>
          <a:prstGeom prst="line">
            <a:avLst/>
          </a:prstGeom>
          <a:noFill/>
          <a:ln w="6350">
            <a:solidFill>
              <a:srgbClr val="D4CFC8"/>
            </a:solidFill>
            <a:prstDash val="solid"/>
          </a:ln>
        </p:spPr>
      </p:sp>
      <p:sp>
        <p:nvSpPr>
          <p:cNvPr id="34" name="Text 32"/>
          <p:cNvSpPr/>
          <p:nvPr/>
        </p:nvSpPr>
        <p:spPr>
          <a:xfrm>
            <a:off x="4919472" y="4434840"/>
            <a:ext cx="1737360" cy="411480"/>
          </a:xfrm>
          <a:prstGeom prst="rect">
            <a:avLst/>
          </a:prstGeom>
          <a:noFill/>
          <a:ln/>
        </p:spPr>
        <p:txBody>
          <a:bodyPr wrap="square" rtlCol="0" anchor="ctr"/>
          <a:lstStyle/>
          <a:p>
            <a:pPr indent="0" marL="0">
              <a:lnSpc>
                <a:spcPct val="140000"/>
              </a:lnSpc>
              <a:buNone/>
            </a:pPr>
            <a:r>
              <a:rPr lang="en-US" sz="750" dirty="0">
                <a:solidFill>
                  <a:srgbClr val="8C8680"/>
                </a:solidFill>
                <a:latin typeface="Courier New" pitchFamily="34" charset="0"/>
                <a:ea typeface="Courier New" pitchFamily="34" charset="-122"/>
                <a:cs typeface="Courier New" pitchFamily="34" charset="-120"/>
              </a:rPr>
              <a:t>Real data from external API — not made up.</a:t>
            </a:r>
            <a:endParaRPr lang="en-US" sz="750" dirty="0"/>
          </a:p>
        </p:txBody>
      </p:sp>
      <p:sp>
        <p:nvSpPr>
          <p:cNvPr id="35" name="Shape 33"/>
          <p:cNvSpPr/>
          <p:nvPr/>
        </p:nvSpPr>
        <p:spPr>
          <a:xfrm>
            <a:off x="6986016" y="1719072"/>
            <a:ext cx="2011680" cy="3246120"/>
          </a:xfrm>
          <a:prstGeom prst="rect">
            <a:avLst/>
          </a:prstGeom>
          <a:solidFill>
            <a:srgbClr val="E8E4DE"/>
          </a:solidFill>
          <a:ln w="12700">
            <a:solidFill>
              <a:srgbClr val="D4CFC8"/>
            </a:solidFill>
            <a:prstDash val="solid"/>
          </a:ln>
        </p:spPr>
      </p:sp>
      <p:sp>
        <p:nvSpPr>
          <p:cNvPr id="36" name="Shape 34"/>
          <p:cNvSpPr/>
          <p:nvPr/>
        </p:nvSpPr>
        <p:spPr>
          <a:xfrm>
            <a:off x="6986016" y="1719072"/>
            <a:ext cx="2011680" cy="45720"/>
          </a:xfrm>
          <a:prstGeom prst="rect">
            <a:avLst/>
          </a:prstGeom>
          <a:solidFill>
            <a:srgbClr val="4C2D80"/>
          </a:solidFill>
          <a:ln w="12700">
            <a:solidFill>
              <a:srgbClr val="4C2D80"/>
            </a:solidFill>
            <a:prstDash val="solid"/>
          </a:ln>
        </p:spPr>
      </p:sp>
      <p:sp>
        <p:nvSpPr>
          <p:cNvPr id="37" name="Text 35"/>
          <p:cNvSpPr/>
          <p:nvPr/>
        </p:nvSpPr>
        <p:spPr>
          <a:xfrm>
            <a:off x="7095744" y="1810512"/>
            <a:ext cx="1737360" cy="347472"/>
          </a:xfrm>
          <a:prstGeom prst="rect">
            <a:avLst/>
          </a:prstGeom>
          <a:noFill/>
          <a:ln/>
        </p:spPr>
        <p:txBody>
          <a:bodyPr wrap="square" rtlCol="0" anchor="ctr"/>
          <a:lstStyle/>
          <a:p>
            <a:pPr indent="0" marL="0">
              <a:buNone/>
            </a:pPr>
            <a:r>
              <a:rPr lang="en-US" sz="2000" dirty="0">
                <a:solidFill>
                  <a:srgbClr val="4C2D80"/>
                </a:solidFill>
                <a:latin typeface="Courier New" pitchFamily="34" charset="0"/>
                <a:ea typeface="Courier New" pitchFamily="34" charset="-122"/>
                <a:cs typeface="Courier New" pitchFamily="34" charset="-120"/>
              </a:rPr>
              <a:t>04</a:t>
            </a:r>
            <a:endParaRPr lang="en-US" sz="2000" dirty="0"/>
          </a:p>
        </p:txBody>
      </p:sp>
      <p:sp>
        <p:nvSpPr>
          <p:cNvPr id="38" name="Text 36"/>
          <p:cNvSpPr/>
          <p:nvPr/>
        </p:nvSpPr>
        <p:spPr>
          <a:xfrm>
            <a:off x="7095744" y="2194560"/>
            <a:ext cx="1737360" cy="292608"/>
          </a:xfrm>
          <a:prstGeom prst="rect">
            <a:avLst/>
          </a:prstGeom>
          <a:noFill/>
          <a:ln/>
        </p:spPr>
        <p:txBody>
          <a:bodyPr wrap="square" rtlCol="0" anchor="ctr"/>
          <a:lstStyle/>
          <a:p>
            <a:pPr indent="0" marL="0">
              <a:buNone/>
            </a:pPr>
            <a:r>
              <a:rPr lang="en-US" sz="1500" dirty="0">
                <a:solidFill>
                  <a:srgbClr val="1C1917"/>
                </a:solidFill>
                <a:latin typeface="Georgia" pitchFamily="34" charset="0"/>
                <a:ea typeface="Georgia" pitchFamily="34" charset="-122"/>
                <a:cs typeface="Georgia" pitchFamily="34" charset="-120"/>
              </a:rPr>
              <a:t>Critique</a:t>
            </a:r>
            <a:endParaRPr lang="en-US" sz="1500" dirty="0"/>
          </a:p>
        </p:txBody>
      </p:sp>
      <p:sp>
        <p:nvSpPr>
          <p:cNvPr id="39" name="Shape 37"/>
          <p:cNvSpPr/>
          <p:nvPr/>
        </p:nvSpPr>
        <p:spPr>
          <a:xfrm>
            <a:off x="7095744" y="2523744"/>
            <a:ext cx="1737360" cy="0"/>
          </a:xfrm>
          <a:prstGeom prst="line">
            <a:avLst/>
          </a:prstGeom>
          <a:noFill/>
          <a:ln w="6350">
            <a:solidFill>
              <a:srgbClr val="D4CFC8"/>
            </a:solidFill>
            <a:prstDash val="solid"/>
          </a:ln>
        </p:spPr>
      </p:sp>
      <p:sp>
        <p:nvSpPr>
          <p:cNvPr id="40" name="Text 38"/>
          <p:cNvSpPr/>
          <p:nvPr/>
        </p:nvSpPr>
        <p:spPr>
          <a:xfrm>
            <a:off x="7095744" y="2596896"/>
            <a:ext cx="1737360" cy="777240"/>
          </a:xfrm>
          <a:prstGeom prst="rect">
            <a:avLst/>
          </a:prstGeom>
          <a:noFill/>
          <a:ln/>
        </p:spPr>
        <p:txBody>
          <a:bodyPr wrap="square" rtlCol="0" anchor="ctr"/>
          <a:lstStyle/>
          <a:p>
            <a:pPr indent="0" marL="0">
              <a:lnSpc>
                <a:spcPct val="150000"/>
              </a:lnSpc>
              <a:buNone/>
            </a:pPr>
            <a:r>
              <a:rPr lang="en-US" sz="800" dirty="0">
                <a:solidFill>
                  <a:srgbClr val="8C8680"/>
                </a:solidFill>
                <a:latin typeface="Courier New" pitchFamily="34" charset="0"/>
                <a:ea typeface="Courier New" pitchFamily="34" charset="-122"/>
                <a:cs typeface="Courier New" pitchFamily="34" charset="-120"/>
              </a:rPr>
              <a:t>Gets ALL previous agent outputs. Writes the full peer review with 7 sections.</a:t>
            </a:r>
            <a:endParaRPr lang="en-US" sz="800" dirty="0"/>
          </a:p>
        </p:txBody>
      </p:sp>
      <p:sp>
        <p:nvSpPr>
          <p:cNvPr id="41" name="Shape 39"/>
          <p:cNvSpPr/>
          <p:nvPr/>
        </p:nvSpPr>
        <p:spPr>
          <a:xfrm>
            <a:off x="7095744" y="3401568"/>
            <a:ext cx="1737360" cy="0"/>
          </a:xfrm>
          <a:prstGeom prst="line">
            <a:avLst/>
          </a:prstGeom>
          <a:noFill/>
          <a:ln w="6350">
            <a:solidFill>
              <a:srgbClr val="D4CFC8"/>
            </a:solidFill>
            <a:prstDash val="solid"/>
          </a:ln>
        </p:spPr>
      </p:sp>
      <p:sp>
        <p:nvSpPr>
          <p:cNvPr id="42" name="Text 40"/>
          <p:cNvSpPr/>
          <p:nvPr/>
        </p:nvSpPr>
        <p:spPr>
          <a:xfrm>
            <a:off x="7095744" y="3474720"/>
            <a:ext cx="1737360" cy="868680"/>
          </a:xfrm>
          <a:prstGeom prst="rect">
            <a:avLst/>
          </a:prstGeom>
          <a:noFill/>
          <a:ln/>
        </p:spPr>
        <p:txBody>
          <a:bodyPr wrap="square" rtlCol="0" anchor="ctr"/>
          <a:lstStyle/>
          <a:p>
            <a:pPr indent="0" marL="0">
              <a:lnSpc>
                <a:spcPct val="140000"/>
              </a:lnSpc>
              <a:buNone/>
            </a:pPr>
            <a:r>
              <a:rPr lang="en-US" sz="750" dirty="0">
                <a:solidFill>
                  <a:srgbClr val="4C2D80"/>
                </a:solidFill>
                <a:latin typeface="Courier New" pitchFamily="34" charset="0"/>
                <a:ea typeface="Courier New" pitchFamily="34" charset="-122"/>
                <a:cs typeface="Courier New" pitchFamily="34" charset="-120"/>
              </a:rPr>
              <a:t>Summary, Strengths, Weaknesses, Citation Assessment,</a:t>
            </a:r>
            <a:endParaRPr lang="en-US" sz="750" dirty="0"/>
          </a:p>
          <a:p>
            <a:pPr indent="0" marL="0">
              <a:lnSpc>
                <a:spcPct val="140000"/>
              </a:lnSpc>
              <a:buNone/>
            </a:pPr>
            <a:r>
              <a:rPr lang="en-US" sz="750" dirty="0">
                <a:solidFill>
                  <a:srgbClr val="4C2D80"/>
                </a:solidFill>
                <a:latin typeface="Courier New" pitchFamily="34" charset="0"/>
                <a:ea typeface="Courier New" pitchFamily="34" charset="-122"/>
                <a:cs typeface="Courier New" pitchFamily="34" charset="-120"/>
              </a:rPr>
              <a:t>Reproducibility, Novelty, Final Verdict: Accept</a:t>
            </a:r>
            <a:endParaRPr lang="en-US" sz="750" dirty="0"/>
          </a:p>
        </p:txBody>
      </p:sp>
      <p:sp>
        <p:nvSpPr>
          <p:cNvPr id="43" name="Shape 41"/>
          <p:cNvSpPr/>
          <p:nvPr/>
        </p:nvSpPr>
        <p:spPr>
          <a:xfrm>
            <a:off x="7095744" y="4370832"/>
            <a:ext cx="1737360" cy="0"/>
          </a:xfrm>
          <a:prstGeom prst="line">
            <a:avLst/>
          </a:prstGeom>
          <a:noFill/>
          <a:ln w="6350">
            <a:solidFill>
              <a:srgbClr val="D4CFC8"/>
            </a:solidFill>
            <a:prstDash val="solid"/>
          </a:ln>
        </p:spPr>
      </p:sp>
      <p:sp>
        <p:nvSpPr>
          <p:cNvPr id="44" name="Text 42"/>
          <p:cNvSpPr/>
          <p:nvPr/>
        </p:nvSpPr>
        <p:spPr>
          <a:xfrm>
            <a:off x="7095744" y="4434840"/>
            <a:ext cx="1737360" cy="411480"/>
          </a:xfrm>
          <a:prstGeom prst="rect">
            <a:avLst/>
          </a:prstGeom>
          <a:noFill/>
          <a:ln/>
        </p:spPr>
        <p:txBody>
          <a:bodyPr wrap="square" rtlCol="0" anchor="ctr"/>
          <a:lstStyle/>
          <a:p>
            <a:pPr indent="0" marL="0">
              <a:lnSpc>
                <a:spcPct val="140000"/>
              </a:lnSpc>
              <a:buNone/>
            </a:pPr>
            <a:r>
              <a:rPr lang="en-US" sz="750" dirty="0">
                <a:solidFill>
                  <a:srgbClr val="8C8680"/>
                </a:solidFill>
                <a:latin typeface="Courier New" pitchFamily="34" charset="0"/>
                <a:ea typeface="Courier New" pitchFamily="34" charset="-122"/>
                <a:cs typeface="Courier New" pitchFamily="34" charset="-120"/>
              </a:rPr>
              <a:t>The final product. Uses everything from agents 1, 2, 3.</a:t>
            </a:r>
            <a:endParaRPr lang="en-US" sz="750" dirty="0"/>
          </a:p>
        </p:txBody>
      </p:sp>
      <p:sp>
        <p:nvSpPr>
          <p:cNvPr id="45" name="Text 43"/>
          <p:cNvSpPr/>
          <p:nvPr/>
        </p:nvSpPr>
        <p:spPr>
          <a:xfrm>
            <a:off x="8046720" y="4892040"/>
            <a:ext cx="914400" cy="182880"/>
          </a:xfrm>
          <a:prstGeom prst="rect">
            <a:avLst/>
          </a:prstGeom>
          <a:noFill/>
          <a:ln/>
        </p:spPr>
        <p:txBody>
          <a:bodyPr wrap="square" rtlCol="0" anchor="ctr"/>
          <a:lstStyle/>
          <a:p>
            <a:pPr algn="r" indent="0" marL="0">
              <a:buNone/>
            </a:pPr>
            <a:r>
              <a:rPr lang="en-US" sz="800" dirty="0">
                <a:solidFill>
                  <a:srgbClr val="D4CFC8"/>
                </a:solidFill>
                <a:latin typeface="Courier New" pitchFamily="34" charset="0"/>
                <a:ea typeface="Courier New" pitchFamily="34" charset="-122"/>
                <a:cs typeface="Courier New" pitchFamily="34" charset="-120"/>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1917"/>
        </a:solidFill>
      </p:bgPr>
    </p:bg>
    <p:spTree>
      <p:nvGrpSpPr>
        <p:cNvPr id="1" name=""/>
        <p:cNvGrpSpPr/>
        <p:nvPr/>
      </p:nvGrpSpPr>
      <p:grpSpPr>
        <a:xfrm>
          <a:off x="0" y="0"/>
          <a:ext cx="0" cy="0"/>
          <a:chOff x="0" y="0"/>
          <a:chExt cx="0" cy="0"/>
        </a:xfrm>
      </p:grpSpPr>
      <p:sp>
        <p:nvSpPr>
          <p:cNvPr id="2" name="Text 0"/>
          <p:cNvSpPr/>
          <p:nvPr/>
        </p:nvSpPr>
        <p:spPr>
          <a:xfrm>
            <a:off x="457200" y="320040"/>
            <a:ext cx="822960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06 — SYSTEM IN ACTION</a:t>
            </a:r>
            <a:endParaRPr lang="en-US" sz="800" dirty="0"/>
          </a:p>
        </p:txBody>
      </p:sp>
      <p:sp>
        <p:nvSpPr>
          <p:cNvPr id="3" name="Shape 1"/>
          <p:cNvSpPr/>
          <p:nvPr/>
        </p:nvSpPr>
        <p:spPr>
          <a:xfrm>
            <a:off x="457200" y="548640"/>
            <a:ext cx="8229600" cy="0"/>
          </a:xfrm>
          <a:prstGeom prst="line">
            <a:avLst/>
          </a:prstGeom>
          <a:noFill/>
          <a:ln w="6350">
            <a:solidFill>
              <a:srgbClr val="3A3530"/>
            </a:solidFill>
            <a:prstDash val="solid"/>
          </a:ln>
        </p:spPr>
      </p:sp>
      <p:sp>
        <p:nvSpPr>
          <p:cNvPr id="4" name="Text 2"/>
          <p:cNvSpPr/>
          <p:nvPr/>
        </p:nvSpPr>
        <p:spPr>
          <a:xfrm>
            <a:off x="457200" y="658368"/>
            <a:ext cx="8229600" cy="804672"/>
          </a:xfrm>
          <a:prstGeom prst="rect">
            <a:avLst/>
          </a:prstGeom>
          <a:noFill/>
          <a:ln/>
        </p:spPr>
        <p:txBody>
          <a:bodyPr wrap="square" rtlCol="0" anchor="ctr"/>
          <a:lstStyle/>
          <a:p>
            <a:pPr indent="0" marL="0">
              <a:lnSpc>
                <a:spcPct val="115000"/>
              </a:lnSpc>
              <a:buNone/>
            </a:pPr>
            <a:r>
              <a:rPr lang="en-US" sz="2800" dirty="0">
                <a:solidFill>
                  <a:srgbClr val="FAF7F2"/>
                </a:solidFill>
                <a:latin typeface="Georgia" pitchFamily="34" charset="0"/>
                <a:ea typeface="Georgia" pitchFamily="34" charset="-122"/>
                <a:cs typeface="Georgia" pitchFamily="34" charset="-120"/>
              </a:rPr>
              <a:t>Running on a real paper.</a:t>
            </a:r>
            <a:endParaRPr lang="en-US" sz="2800" dirty="0"/>
          </a:p>
          <a:p>
            <a:pPr indent="0" marL="0">
              <a:lnSpc>
                <a:spcPct val="115000"/>
              </a:lnSpc>
              <a:buNone/>
            </a:pPr>
            <a:r>
              <a:rPr lang="en-US" sz="2800" dirty="0">
                <a:solidFill>
                  <a:srgbClr val="FAF7F2"/>
                </a:solidFill>
                <a:latin typeface="Georgia" pitchFamily="34" charset="0"/>
                <a:ea typeface="Georgia" pitchFamily="34" charset="-122"/>
                <a:cs typeface="Georgia" pitchFamily="34" charset="-120"/>
              </a:rPr>
              <a:t>Watch what happens.</a:t>
            </a:r>
            <a:endParaRPr lang="en-US" sz="2800" dirty="0"/>
          </a:p>
        </p:txBody>
      </p:sp>
      <p:sp>
        <p:nvSpPr>
          <p:cNvPr id="5" name="Text 3"/>
          <p:cNvSpPr/>
          <p:nvPr/>
        </p:nvSpPr>
        <p:spPr>
          <a:xfrm>
            <a:off x="457200" y="1481328"/>
            <a:ext cx="8229600" cy="228600"/>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arXiv 2601.01978 — Mathematical Physics paper about superintegrable systems</a:t>
            </a:r>
            <a:endParaRPr lang="en-US" sz="800" dirty="0"/>
          </a:p>
        </p:txBody>
      </p:sp>
      <p:pic>
        <p:nvPicPr>
          <p:cNvPr id="6" name="Image 0" descr="preencoded.png">    </p:cNvPr>
          <p:cNvPicPr>
            <a:picLocks noChangeAspect="1"/>
          </p:cNvPicPr>
          <p:nvPr/>
        </p:nvPicPr>
        <p:blipFill>
          <a:blip r:embed="rId1"/>
          <a:stretch>
            <a:fillRect/>
          </a:stretch>
        </p:blipFill>
        <p:spPr>
          <a:xfrm>
            <a:off x="457200" y="1783080"/>
            <a:ext cx="3678402" cy="2651760"/>
          </a:xfrm>
          <a:prstGeom prst="rect">
            <a:avLst/>
          </a:prstGeom>
        </p:spPr>
      </p:pic>
      <p:pic>
        <p:nvPicPr>
          <p:cNvPr id="7" name="Image 1" descr="preencoded.png">    </p:cNvPr>
          <p:cNvPicPr>
            <a:picLocks noChangeAspect="1"/>
          </p:cNvPicPr>
          <p:nvPr/>
        </p:nvPicPr>
        <p:blipFill>
          <a:blip r:embed="rId2"/>
          <a:stretch>
            <a:fillRect/>
          </a:stretch>
        </p:blipFill>
        <p:spPr>
          <a:xfrm>
            <a:off x="5623560" y="1783080"/>
            <a:ext cx="3075036" cy="2194560"/>
          </a:xfrm>
          <a:prstGeom prst="rect">
            <a:avLst/>
          </a:prstGeom>
        </p:spPr>
      </p:pic>
      <p:sp>
        <p:nvSpPr>
          <p:cNvPr id="8" name="Shape 4"/>
          <p:cNvSpPr/>
          <p:nvPr/>
        </p:nvSpPr>
        <p:spPr>
          <a:xfrm>
            <a:off x="457200" y="4480560"/>
            <a:ext cx="8229600" cy="182880"/>
          </a:xfrm>
          <a:prstGeom prst="rect">
            <a:avLst/>
          </a:prstGeom>
          <a:solidFill>
            <a:srgbClr val="C4441C">
              <a:alpha val="15000"/>
            </a:srgbClr>
          </a:solidFill>
          <a:ln w="6350">
            <a:solidFill>
              <a:srgbClr val="C4441C"/>
            </a:solidFill>
            <a:prstDash val="solid"/>
          </a:ln>
        </p:spPr>
      </p:sp>
      <p:sp>
        <p:nvSpPr>
          <p:cNvPr id="9" name="Text 5"/>
          <p:cNvSpPr/>
          <p:nvPr/>
        </p:nvSpPr>
        <p:spPr>
          <a:xfrm>
            <a:off x="548640" y="4480560"/>
            <a:ext cx="8046720" cy="182880"/>
          </a:xfrm>
          <a:prstGeom prst="rect">
            <a:avLst/>
          </a:prstGeom>
          <a:noFill/>
          <a:ln/>
        </p:spPr>
        <p:txBody>
          <a:bodyPr wrap="square" rtlCol="0" anchor="ctr"/>
          <a:lstStyle/>
          <a:p>
            <a:pPr indent="0" marL="0">
              <a:buNone/>
            </a:pPr>
            <a:r>
              <a:rPr lang="en-US" sz="800" dirty="0">
                <a:solidFill>
                  <a:srgbClr val="C4441C"/>
                </a:solidFill>
                <a:latin typeface="Courier New" pitchFamily="34" charset="0"/>
                <a:ea typeface="Courier New" pitchFamily="34" charset="-122"/>
                <a:cs typeface="Courier New" pitchFamily="34" charset="-120"/>
              </a:rPr>
              <a:t>→  TextCNN: 18% confidence → guardrail fires → HITL required before continuing</a:t>
            </a:r>
            <a:endParaRPr lang="en-US" sz="800" dirty="0"/>
          </a:p>
        </p:txBody>
      </p:sp>
      <p:sp>
        <p:nvSpPr>
          <p:cNvPr id="10" name="Shape 6"/>
          <p:cNvSpPr/>
          <p:nvPr/>
        </p:nvSpPr>
        <p:spPr>
          <a:xfrm>
            <a:off x="457200" y="4709160"/>
            <a:ext cx="8229600" cy="182880"/>
          </a:xfrm>
          <a:prstGeom prst="rect">
            <a:avLst/>
          </a:prstGeom>
          <a:solidFill>
            <a:srgbClr val="6AAF3D">
              <a:alpha val="15000"/>
            </a:srgbClr>
          </a:solidFill>
          <a:ln w="6350">
            <a:solidFill>
              <a:srgbClr val="6AAF3D"/>
            </a:solidFill>
            <a:prstDash val="solid"/>
          </a:ln>
        </p:spPr>
      </p:sp>
      <p:sp>
        <p:nvSpPr>
          <p:cNvPr id="11" name="Text 7"/>
          <p:cNvSpPr/>
          <p:nvPr/>
        </p:nvSpPr>
        <p:spPr>
          <a:xfrm>
            <a:off x="548640" y="4709160"/>
            <a:ext cx="8046720" cy="182880"/>
          </a:xfrm>
          <a:prstGeom prst="rect">
            <a:avLst/>
          </a:prstGeom>
          <a:noFill/>
          <a:ln/>
        </p:spPr>
        <p:txBody>
          <a:bodyPr wrap="square" rtlCol="0" anchor="ctr"/>
          <a:lstStyle/>
          <a:p>
            <a:pPr indent="0" marL="0">
              <a:buNone/>
            </a:pPr>
            <a:r>
              <a:rPr lang="en-US" sz="800" dirty="0">
                <a:solidFill>
                  <a:srgbClr val="6AAF3D"/>
                </a:solidFill>
                <a:latin typeface="Courier New" pitchFamily="34" charset="0"/>
                <a:ea typeface="Courier New" pitchFamily="34" charset="-122"/>
                <a:cs typeface="Courier New" pitchFamily="34" charset="-120"/>
              </a:rPr>
              <a:t>→  Agent 1 overrides: Quantitative Biology → Mathematical Physics</a:t>
            </a:r>
            <a:endParaRPr lang="en-US" sz="800" dirty="0"/>
          </a:p>
        </p:txBody>
      </p:sp>
      <p:sp>
        <p:nvSpPr>
          <p:cNvPr id="12" name="Shape 8"/>
          <p:cNvSpPr/>
          <p:nvPr/>
        </p:nvSpPr>
        <p:spPr>
          <a:xfrm>
            <a:off x="457200" y="4937760"/>
            <a:ext cx="8229600" cy="182880"/>
          </a:xfrm>
          <a:prstGeom prst="rect">
            <a:avLst/>
          </a:prstGeom>
          <a:solidFill>
            <a:srgbClr val="8B8BEF">
              <a:alpha val="15000"/>
            </a:srgbClr>
          </a:solidFill>
          <a:ln w="6350">
            <a:solidFill>
              <a:srgbClr val="8B8BEF"/>
            </a:solidFill>
            <a:prstDash val="solid"/>
          </a:ln>
        </p:spPr>
      </p:sp>
      <p:sp>
        <p:nvSpPr>
          <p:cNvPr id="13" name="Text 9"/>
          <p:cNvSpPr/>
          <p:nvPr/>
        </p:nvSpPr>
        <p:spPr>
          <a:xfrm>
            <a:off x="548640" y="4937760"/>
            <a:ext cx="8046720" cy="182880"/>
          </a:xfrm>
          <a:prstGeom prst="rect">
            <a:avLst/>
          </a:prstGeom>
          <a:noFill/>
          <a:ln/>
        </p:spPr>
        <p:txBody>
          <a:bodyPr wrap="square" rtlCol="0" anchor="ctr"/>
          <a:lstStyle/>
          <a:p>
            <a:pPr indent="0" marL="0">
              <a:buNone/>
            </a:pPr>
            <a:r>
              <a:rPr lang="en-US" sz="800" dirty="0">
                <a:solidFill>
                  <a:srgbClr val="8B8BEF"/>
                </a:solidFill>
                <a:latin typeface="Courier New" pitchFamily="34" charset="0"/>
                <a:ea typeface="Courier New" pitchFamily="34" charset="-122"/>
                <a:cs typeface="Courier New" pitchFamily="34" charset="-120"/>
              </a:rPr>
              <a:t>→  Pipeline complete: Field = Mathematical Physics · Verdict = Accept · Citation 7/10</a:t>
            </a:r>
            <a:endParaRPr lang="en-US" sz="800" dirty="0"/>
          </a:p>
        </p:txBody>
      </p:sp>
      <p:sp>
        <p:nvSpPr>
          <p:cNvPr id="14" name="Text 10"/>
          <p:cNvSpPr/>
          <p:nvPr/>
        </p:nvSpPr>
        <p:spPr>
          <a:xfrm>
            <a:off x="8046720" y="4892040"/>
            <a:ext cx="914400" cy="182880"/>
          </a:xfrm>
          <a:prstGeom prst="rect">
            <a:avLst/>
          </a:prstGeom>
          <a:noFill/>
          <a:ln/>
        </p:spPr>
        <p:txBody>
          <a:bodyPr wrap="square" rtlCol="0" anchor="ctr"/>
          <a:lstStyle/>
          <a:p>
            <a:pPr algn="r" indent="0" marL="0">
              <a:buNone/>
            </a:pPr>
            <a:r>
              <a:rPr lang="en-US" sz="800" dirty="0">
                <a:solidFill>
                  <a:srgbClr val="D4CFC8"/>
                </a:solidFill>
                <a:latin typeface="Courier New" pitchFamily="34" charset="0"/>
                <a:ea typeface="Courier New" pitchFamily="34" charset="-122"/>
                <a:cs typeface="Courier New" pitchFamily="34" charset="-120"/>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457200" y="320040"/>
            <a:ext cx="685800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07 — WEB INTERFACE</a:t>
            </a:r>
            <a:endParaRPr lang="en-US" sz="800" dirty="0"/>
          </a:p>
        </p:txBody>
      </p:sp>
      <p:sp>
        <p:nvSpPr>
          <p:cNvPr id="3" name="Shape 1"/>
          <p:cNvSpPr/>
          <p:nvPr/>
        </p:nvSpPr>
        <p:spPr>
          <a:xfrm>
            <a:off x="457200" y="548640"/>
            <a:ext cx="8229600" cy="0"/>
          </a:xfrm>
          <a:prstGeom prst="line">
            <a:avLst/>
          </a:prstGeom>
          <a:noFill/>
          <a:ln w="6350">
            <a:solidFill>
              <a:srgbClr val="D4CFC8"/>
            </a:solidFill>
            <a:prstDash val="solid"/>
          </a:ln>
        </p:spPr>
      </p:sp>
      <p:sp>
        <p:nvSpPr>
          <p:cNvPr id="4" name="Text 2"/>
          <p:cNvSpPr/>
          <p:nvPr/>
        </p:nvSpPr>
        <p:spPr>
          <a:xfrm>
            <a:off x="457200" y="685800"/>
            <a:ext cx="6400800" cy="868680"/>
          </a:xfrm>
          <a:prstGeom prst="rect">
            <a:avLst/>
          </a:prstGeom>
          <a:noFill/>
          <a:ln/>
        </p:spPr>
        <p:txBody>
          <a:bodyPr wrap="square" rtlCol="0" anchor="ctr"/>
          <a:lstStyle/>
          <a:p>
            <a:pPr indent="0" marL="0">
              <a:lnSpc>
                <a:spcPct val="115000"/>
              </a:lnSpc>
              <a:buNone/>
            </a:pPr>
            <a:r>
              <a:rPr lang="en-US" sz="2600" dirty="0">
                <a:solidFill>
                  <a:srgbClr val="1C1917"/>
                </a:solidFill>
                <a:latin typeface="Georgia" pitchFamily="34" charset="0"/>
                <a:ea typeface="Georgia" pitchFamily="34" charset="-122"/>
                <a:cs typeface="Georgia" pitchFamily="34" charset="-120"/>
              </a:rPr>
              <a:t>We also built a browser interface.</a:t>
            </a:r>
            <a:endParaRPr lang="en-US" sz="2600" dirty="0"/>
          </a:p>
          <a:p>
            <a:pPr indent="0" marL="0">
              <a:lnSpc>
                <a:spcPct val="115000"/>
              </a:lnSpc>
              <a:buNone/>
            </a:pPr>
            <a:r>
              <a:rPr lang="en-US" sz="2600" dirty="0">
                <a:solidFill>
                  <a:srgbClr val="1C1917"/>
                </a:solidFill>
                <a:latin typeface="Georgia" pitchFamily="34" charset="0"/>
                <a:ea typeface="Georgia" pitchFamily="34" charset="-122"/>
                <a:cs typeface="Georgia" pitchFamily="34" charset="-120"/>
              </a:rPr>
              <a:t>Drag, drop, approve, done.</a:t>
            </a:r>
            <a:endParaRPr lang="en-US" sz="2600" dirty="0"/>
          </a:p>
        </p:txBody>
      </p:sp>
      <p:sp>
        <p:nvSpPr>
          <p:cNvPr id="5" name="Shape 3"/>
          <p:cNvSpPr/>
          <p:nvPr/>
        </p:nvSpPr>
        <p:spPr>
          <a:xfrm>
            <a:off x="420624" y="1664208"/>
            <a:ext cx="2679192" cy="1586664"/>
          </a:xfrm>
          <a:prstGeom prst="rect">
            <a:avLst/>
          </a:prstGeom>
          <a:solidFill>
            <a:srgbClr val="D4CFC8"/>
          </a:solidFill>
          <a:ln w="12700">
            <a:solidFill>
              <a:srgbClr val="D4CFC8"/>
            </a:solidFill>
            <a:prstDash val="solid"/>
          </a:ln>
        </p:spPr>
      </p:sp>
      <p:pic>
        <p:nvPicPr>
          <p:cNvPr id="6" name="Image 0" descr="preencoded.png">    </p:cNvPr>
          <p:cNvPicPr>
            <a:picLocks noChangeAspect="1"/>
          </p:cNvPicPr>
          <p:nvPr/>
        </p:nvPicPr>
        <p:blipFill>
          <a:blip r:embed="rId1"/>
          <a:stretch>
            <a:fillRect/>
          </a:stretch>
        </p:blipFill>
        <p:spPr>
          <a:xfrm>
            <a:off x="457200" y="1700784"/>
            <a:ext cx="2606040" cy="1513512"/>
          </a:xfrm>
          <a:prstGeom prst="rect">
            <a:avLst/>
          </a:prstGeom>
        </p:spPr>
      </p:pic>
      <p:sp>
        <p:nvSpPr>
          <p:cNvPr id="7" name="Shape 4"/>
          <p:cNvSpPr/>
          <p:nvPr/>
        </p:nvSpPr>
        <p:spPr>
          <a:xfrm>
            <a:off x="457200" y="3703320"/>
            <a:ext cx="2606040" cy="0"/>
          </a:xfrm>
          <a:prstGeom prst="line">
            <a:avLst/>
          </a:prstGeom>
          <a:noFill/>
          <a:ln w="6350">
            <a:solidFill>
              <a:srgbClr val="D4CFC8"/>
            </a:solidFill>
            <a:prstDash val="solid"/>
          </a:ln>
        </p:spPr>
      </p:sp>
      <p:sp>
        <p:nvSpPr>
          <p:cNvPr id="8" name="Text 5"/>
          <p:cNvSpPr/>
          <p:nvPr/>
        </p:nvSpPr>
        <p:spPr>
          <a:xfrm>
            <a:off x="457200" y="3767328"/>
            <a:ext cx="2606040" cy="201168"/>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Upload page — drag and drop any PDF</a:t>
            </a:r>
            <a:endParaRPr lang="en-US" sz="800" dirty="0"/>
          </a:p>
        </p:txBody>
      </p:sp>
      <p:sp>
        <p:nvSpPr>
          <p:cNvPr id="9" name="Shape 6"/>
          <p:cNvSpPr/>
          <p:nvPr/>
        </p:nvSpPr>
        <p:spPr>
          <a:xfrm>
            <a:off x="3319272" y="1664208"/>
            <a:ext cx="2679192" cy="1621393"/>
          </a:xfrm>
          <a:prstGeom prst="rect">
            <a:avLst/>
          </a:prstGeom>
          <a:solidFill>
            <a:srgbClr val="D4CFC8"/>
          </a:solidFill>
          <a:ln w="12700">
            <a:solidFill>
              <a:srgbClr val="D4CFC8"/>
            </a:solidFill>
            <a:prstDash val="solid"/>
          </a:ln>
        </p:spPr>
      </p:sp>
      <p:pic>
        <p:nvPicPr>
          <p:cNvPr id="10" name="Image 1" descr="preencoded.png">    </p:cNvPr>
          <p:cNvPicPr>
            <a:picLocks noChangeAspect="1"/>
          </p:cNvPicPr>
          <p:nvPr/>
        </p:nvPicPr>
        <p:blipFill>
          <a:blip r:embed="rId2"/>
          <a:stretch>
            <a:fillRect/>
          </a:stretch>
        </p:blipFill>
        <p:spPr>
          <a:xfrm>
            <a:off x="3355848" y="1700784"/>
            <a:ext cx="2606040" cy="1548241"/>
          </a:xfrm>
          <a:prstGeom prst="rect">
            <a:avLst/>
          </a:prstGeom>
        </p:spPr>
      </p:pic>
      <p:sp>
        <p:nvSpPr>
          <p:cNvPr id="11" name="Shape 7"/>
          <p:cNvSpPr/>
          <p:nvPr/>
        </p:nvSpPr>
        <p:spPr>
          <a:xfrm>
            <a:off x="3355848" y="3703320"/>
            <a:ext cx="2606040" cy="0"/>
          </a:xfrm>
          <a:prstGeom prst="line">
            <a:avLst/>
          </a:prstGeom>
          <a:noFill/>
          <a:ln w="6350">
            <a:solidFill>
              <a:srgbClr val="D4CFC8"/>
            </a:solidFill>
            <a:prstDash val="solid"/>
          </a:ln>
        </p:spPr>
      </p:sp>
      <p:sp>
        <p:nvSpPr>
          <p:cNvPr id="12" name="Text 8"/>
          <p:cNvSpPr/>
          <p:nvPr/>
        </p:nvSpPr>
        <p:spPr>
          <a:xfrm>
            <a:off x="3355848" y="3767328"/>
            <a:ext cx="2606040" cy="201168"/>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HITL — Approve/Reject buttons in browser</a:t>
            </a:r>
            <a:endParaRPr lang="en-US" sz="800" dirty="0"/>
          </a:p>
        </p:txBody>
      </p:sp>
      <p:sp>
        <p:nvSpPr>
          <p:cNvPr id="13" name="Shape 9"/>
          <p:cNvSpPr/>
          <p:nvPr/>
        </p:nvSpPr>
        <p:spPr>
          <a:xfrm>
            <a:off x="6217920" y="1664208"/>
            <a:ext cx="2679192" cy="1626997"/>
          </a:xfrm>
          <a:prstGeom prst="rect">
            <a:avLst/>
          </a:prstGeom>
          <a:solidFill>
            <a:srgbClr val="D4CFC8"/>
          </a:solidFill>
          <a:ln w="12700">
            <a:solidFill>
              <a:srgbClr val="D4CFC8"/>
            </a:solidFill>
            <a:prstDash val="solid"/>
          </a:ln>
        </p:spPr>
      </p:sp>
      <p:pic>
        <p:nvPicPr>
          <p:cNvPr id="14" name="Image 2" descr="preencoded.png">    </p:cNvPr>
          <p:cNvPicPr>
            <a:picLocks noChangeAspect="1"/>
          </p:cNvPicPr>
          <p:nvPr/>
        </p:nvPicPr>
        <p:blipFill>
          <a:blip r:embed="rId3"/>
          <a:stretch>
            <a:fillRect/>
          </a:stretch>
        </p:blipFill>
        <p:spPr>
          <a:xfrm>
            <a:off x="6254496" y="1700784"/>
            <a:ext cx="2606040" cy="1553845"/>
          </a:xfrm>
          <a:prstGeom prst="rect">
            <a:avLst/>
          </a:prstGeom>
        </p:spPr>
      </p:pic>
      <p:sp>
        <p:nvSpPr>
          <p:cNvPr id="15" name="Shape 10"/>
          <p:cNvSpPr/>
          <p:nvPr/>
        </p:nvSpPr>
        <p:spPr>
          <a:xfrm>
            <a:off x="6254496" y="3703320"/>
            <a:ext cx="2606040" cy="0"/>
          </a:xfrm>
          <a:prstGeom prst="line">
            <a:avLst/>
          </a:prstGeom>
          <a:noFill/>
          <a:ln w="6350">
            <a:solidFill>
              <a:srgbClr val="D4CFC8"/>
            </a:solidFill>
            <a:prstDash val="solid"/>
          </a:ln>
        </p:spPr>
      </p:sp>
      <p:sp>
        <p:nvSpPr>
          <p:cNvPr id="16" name="Text 11"/>
          <p:cNvSpPr/>
          <p:nvPr/>
        </p:nvSpPr>
        <p:spPr>
          <a:xfrm>
            <a:off x="6254496" y="3767328"/>
            <a:ext cx="2606040" cy="201168"/>
          </a:xfrm>
          <a:prstGeom prst="rect">
            <a:avLst/>
          </a:prstGeom>
          <a:noFill/>
          <a:ln/>
        </p:spPr>
        <p:txBody>
          <a:bodyPr wrap="square" rtlCol="0" anchor="ctr"/>
          <a:lstStyle/>
          <a:p>
            <a:pPr indent="0" marL="0">
              <a:buNone/>
            </a:pPr>
            <a:r>
              <a:rPr lang="en-US" sz="800" dirty="0">
                <a:solidFill>
                  <a:srgbClr val="8C8680"/>
                </a:solidFill>
                <a:latin typeface="Courier New" pitchFamily="34" charset="0"/>
                <a:ea typeface="Courier New" pitchFamily="34" charset="-122"/>
                <a:cs typeface="Courier New" pitchFamily="34" charset="-120"/>
              </a:rPr>
              <a:t>Results — verdict, scores, full review</a:t>
            </a:r>
            <a:endParaRPr lang="en-US" sz="800" dirty="0"/>
          </a:p>
        </p:txBody>
      </p:sp>
      <p:sp>
        <p:nvSpPr>
          <p:cNvPr id="17" name="Shape 12"/>
          <p:cNvSpPr/>
          <p:nvPr/>
        </p:nvSpPr>
        <p:spPr>
          <a:xfrm>
            <a:off x="457200" y="4096512"/>
            <a:ext cx="8229600" cy="0"/>
          </a:xfrm>
          <a:prstGeom prst="line">
            <a:avLst/>
          </a:prstGeom>
          <a:noFill/>
          <a:ln w="6350">
            <a:solidFill>
              <a:srgbClr val="E8E4DE"/>
            </a:solidFill>
            <a:prstDash val="solid"/>
          </a:ln>
        </p:spPr>
      </p:sp>
      <p:sp>
        <p:nvSpPr>
          <p:cNvPr id="18" name="Text 13"/>
          <p:cNvSpPr/>
          <p:nvPr/>
        </p:nvSpPr>
        <p:spPr>
          <a:xfrm>
            <a:off x="457200" y="4187952"/>
            <a:ext cx="1645920" cy="320040"/>
          </a:xfrm>
          <a:prstGeom prst="rect">
            <a:avLst/>
          </a:prstGeom>
          <a:noFill/>
          <a:ln/>
        </p:spPr>
        <p:txBody>
          <a:bodyPr wrap="square" rtlCol="0" anchor="ctr"/>
          <a:lstStyle/>
          <a:p>
            <a:pPr indent="0" marL="0">
              <a:buNone/>
            </a:pPr>
            <a:r>
              <a:rPr lang="en-US" sz="800" b="1" dirty="0">
                <a:solidFill>
                  <a:srgbClr val="1C1917"/>
                </a:solidFill>
                <a:latin typeface="Courier New" pitchFamily="34" charset="0"/>
                <a:ea typeface="Courier New" pitchFamily="34" charset="-122"/>
                <a:cs typeface="Courier New" pitchFamily="34" charset="-120"/>
              </a:rPr>
              <a:t>—  Flask + Python:  </a:t>
            </a:r>
            <a:endParaRPr lang="en-US" sz="800" dirty="0"/>
          </a:p>
        </p:txBody>
      </p:sp>
      <p:sp>
        <p:nvSpPr>
          <p:cNvPr id="19" name="Text 14"/>
          <p:cNvSpPr/>
          <p:nvPr/>
        </p:nvSpPr>
        <p:spPr>
          <a:xfrm>
            <a:off x="1828800" y="4187952"/>
            <a:ext cx="2834640" cy="320040"/>
          </a:xfrm>
          <a:prstGeom prst="rect">
            <a:avLst/>
          </a:prstGeom>
          <a:noFill/>
          <a:ln/>
        </p:spPr>
        <p:txBody>
          <a:bodyPr wrap="square" rtlCol="0" anchor="ctr"/>
          <a:lstStyle/>
          <a:p>
            <a:pPr indent="0" marL="0">
              <a:lnSpc>
                <a:spcPct val="140000"/>
              </a:lnSpc>
              <a:buNone/>
            </a:pPr>
            <a:r>
              <a:rPr lang="en-US" sz="800" dirty="0">
                <a:solidFill>
                  <a:srgbClr val="8C8680"/>
                </a:solidFill>
                <a:latin typeface="Courier New" pitchFamily="34" charset="0"/>
                <a:ea typeface="Courier New" pitchFamily="34" charset="-122"/>
                <a:cs typeface="Courier New" pitchFamily="34" charset="-120"/>
              </a:rPr>
              <a:t>The web server is built with Flask — a Python library. It runs locally at port 8080.</a:t>
            </a:r>
            <a:endParaRPr lang="en-US" sz="800" dirty="0"/>
          </a:p>
        </p:txBody>
      </p:sp>
      <p:sp>
        <p:nvSpPr>
          <p:cNvPr id="20" name="Text 15"/>
          <p:cNvSpPr/>
          <p:nvPr/>
        </p:nvSpPr>
        <p:spPr>
          <a:xfrm>
            <a:off x="4846320" y="4187952"/>
            <a:ext cx="1645920" cy="320040"/>
          </a:xfrm>
          <a:prstGeom prst="rect">
            <a:avLst/>
          </a:prstGeom>
          <a:noFill/>
          <a:ln/>
        </p:spPr>
        <p:txBody>
          <a:bodyPr wrap="square" rtlCol="0" anchor="ctr"/>
          <a:lstStyle/>
          <a:p>
            <a:pPr indent="0" marL="0">
              <a:buNone/>
            </a:pPr>
            <a:r>
              <a:rPr lang="en-US" sz="800" b="1" dirty="0">
                <a:solidFill>
                  <a:srgbClr val="1C1917"/>
                </a:solidFill>
                <a:latin typeface="Courier New" pitchFamily="34" charset="0"/>
                <a:ea typeface="Courier New" pitchFamily="34" charset="-122"/>
                <a:cs typeface="Courier New" pitchFamily="34" charset="-120"/>
              </a:rPr>
              <a:t>—  Background threads:  </a:t>
            </a:r>
            <a:endParaRPr lang="en-US" sz="800" dirty="0"/>
          </a:p>
        </p:txBody>
      </p:sp>
      <p:sp>
        <p:nvSpPr>
          <p:cNvPr id="21" name="Text 16"/>
          <p:cNvSpPr/>
          <p:nvPr/>
        </p:nvSpPr>
        <p:spPr>
          <a:xfrm>
            <a:off x="6217920" y="4187952"/>
            <a:ext cx="2834640" cy="320040"/>
          </a:xfrm>
          <a:prstGeom prst="rect">
            <a:avLst/>
          </a:prstGeom>
          <a:noFill/>
          <a:ln/>
        </p:spPr>
        <p:txBody>
          <a:bodyPr wrap="square" rtlCol="0" anchor="ctr"/>
          <a:lstStyle/>
          <a:p>
            <a:pPr indent="0" marL="0">
              <a:lnSpc>
                <a:spcPct val="140000"/>
              </a:lnSpc>
              <a:buNone/>
            </a:pPr>
            <a:r>
              <a:rPr lang="en-US" sz="800" dirty="0">
                <a:solidFill>
                  <a:srgbClr val="8C8680"/>
                </a:solidFill>
                <a:latin typeface="Courier New" pitchFamily="34" charset="0"/>
                <a:ea typeface="Courier New" pitchFamily="34" charset="-122"/>
                <a:cs typeface="Courier New" pitchFamily="34" charset="-120"/>
              </a:rPr>
              <a:t>The pipeline runs in a separate thread so the browser stays responsive.</a:t>
            </a:r>
            <a:endParaRPr lang="en-US" sz="800" dirty="0"/>
          </a:p>
        </p:txBody>
      </p:sp>
      <p:sp>
        <p:nvSpPr>
          <p:cNvPr id="22" name="Text 17"/>
          <p:cNvSpPr/>
          <p:nvPr/>
        </p:nvSpPr>
        <p:spPr>
          <a:xfrm>
            <a:off x="457200" y="4572000"/>
            <a:ext cx="1645920" cy="320040"/>
          </a:xfrm>
          <a:prstGeom prst="rect">
            <a:avLst/>
          </a:prstGeom>
          <a:noFill/>
          <a:ln/>
        </p:spPr>
        <p:txBody>
          <a:bodyPr wrap="square" rtlCol="0" anchor="ctr"/>
          <a:lstStyle/>
          <a:p>
            <a:pPr indent="0" marL="0">
              <a:buNone/>
            </a:pPr>
            <a:r>
              <a:rPr lang="en-US" sz="800" b="1" dirty="0">
                <a:solidFill>
                  <a:srgbClr val="1C1917"/>
                </a:solidFill>
                <a:latin typeface="Courier New" pitchFamily="34" charset="0"/>
                <a:ea typeface="Courier New" pitchFamily="34" charset="-122"/>
                <a:cs typeface="Courier New" pitchFamily="34" charset="-120"/>
              </a:rPr>
              <a:t>—  Polling every 1.5s:  </a:t>
            </a:r>
            <a:endParaRPr lang="en-US" sz="800" dirty="0"/>
          </a:p>
        </p:txBody>
      </p:sp>
      <p:sp>
        <p:nvSpPr>
          <p:cNvPr id="23" name="Text 18"/>
          <p:cNvSpPr/>
          <p:nvPr/>
        </p:nvSpPr>
        <p:spPr>
          <a:xfrm>
            <a:off x="1828800" y="4572000"/>
            <a:ext cx="2834640" cy="320040"/>
          </a:xfrm>
          <a:prstGeom prst="rect">
            <a:avLst/>
          </a:prstGeom>
          <a:noFill/>
          <a:ln/>
        </p:spPr>
        <p:txBody>
          <a:bodyPr wrap="square" rtlCol="0" anchor="ctr"/>
          <a:lstStyle/>
          <a:p>
            <a:pPr indent="0" marL="0">
              <a:lnSpc>
                <a:spcPct val="140000"/>
              </a:lnSpc>
              <a:buNone/>
            </a:pPr>
            <a:r>
              <a:rPr lang="en-US" sz="800" dirty="0">
                <a:solidFill>
                  <a:srgbClr val="8C8680"/>
                </a:solidFill>
                <a:latin typeface="Courier New" pitchFamily="34" charset="0"/>
                <a:ea typeface="Courier New" pitchFamily="34" charset="-122"/>
                <a:cs typeface="Courier New" pitchFamily="34" charset="-120"/>
              </a:rPr>
              <a:t>The browser asks the server for updates every 1.5 seconds to show live progress.</a:t>
            </a:r>
            <a:endParaRPr lang="en-US" sz="800" dirty="0"/>
          </a:p>
        </p:txBody>
      </p:sp>
      <p:sp>
        <p:nvSpPr>
          <p:cNvPr id="24" name="Text 19"/>
          <p:cNvSpPr/>
          <p:nvPr/>
        </p:nvSpPr>
        <p:spPr>
          <a:xfrm>
            <a:off x="4846320" y="4572000"/>
            <a:ext cx="1645920" cy="320040"/>
          </a:xfrm>
          <a:prstGeom prst="rect">
            <a:avLst/>
          </a:prstGeom>
          <a:noFill/>
          <a:ln/>
        </p:spPr>
        <p:txBody>
          <a:bodyPr wrap="square" rtlCol="0" anchor="ctr"/>
          <a:lstStyle/>
          <a:p>
            <a:pPr indent="0" marL="0">
              <a:buNone/>
            </a:pPr>
            <a:r>
              <a:rPr lang="en-US" sz="800" b="1" dirty="0">
                <a:solidFill>
                  <a:srgbClr val="1C1917"/>
                </a:solidFill>
                <a:latin typeface="Courier New" pitchFamily="34" charset="0"/>
                <a:ea typeface="Courier New" pitchFamily="34" charset="-122"/>
                <a:cs typeface="Courier New" pitchFamily="34" charset="-120"/>
              </a:rPr>
              <a:t>—  Download buttons:  </a:t>
            </a:r>
            <a:endParaRPr lang="en-US" sz="800" dirty="0"/>
          </a:p>
        </p:txBody>
      </p:sp>
      <p:sp>
        <p:nvSpPr>
          <p:cNvPr id="25" name="Text 20"/>
          <p:cNvSpPr/>
          <p:nvPr/>
        </p:nvSpPr>
        <p:spPr>
          <a:xfrm>
            <a:off x="6217920" y="4572000"/>
            <a:ext cx="2834640" cy="320040"/>
          </a:xfrm>
          <a:prstGeom prst="rect">
            <a:avLst/>
          </a:prstGeom>
          <a:noFill/>
          <a:ln/>
        </p:spPr>
        <p:txBody>
          <a:bodyPr wrap="square" rtlCol="0" anchor="ctr"/>
          <a:lstStyle/>
          <a:p>
            <a:pPr indent="0" marL="0">
              <a:lnSpc>
                <a:spcPct val="140000"/>
              </a:lnSpc>
              <a:buNone/>
            </a:pPr>
            <a:r>
              <a:rPr lang="en-US" sz="800" dirty="0">
                <a:solidFill>
                  <a:srgbClr val="8C8680"/>
                </a:solidFill>
                <a:latin typeface="Courier New" pitchFamily="34" charset="0"/>
                <a:ea typeface="Courier New" pitchFamily="34" charset="-122"/>
                <a:cs typeface="Courier New" pitchFamily="34" charset="-120"/>
              </a:rPr>
              <a:t>At the end you can download the JSON data or the formatted Markdown report.</a:t>
            </a:r>
            <a:endParaRPr lang="en-US" sz="800" dirty="0"/>
          </a:p>
        </p:txBody>
      </p:sp>
      <p:sp>
        <p:nvSpPr>
          <p:cNvPr id="26" name="Text 21"/>
          <p:cNvSpPr/>
          <p:nvPr/>
        </p:nvSpPr>
        <p:spPr>
          <a:xfrm>
            <a:off x="8046720" y="4892040"/>
            <a:ext cx="914400" cy="182880"/>
          </a:xfrm>
          <a:prstGeom prst="rect">
            <a:avLst/>
          </a:prstGeom>
          <a:noFill/>
          <a:ln/>
        </p:spPr>
        <p:txBody>
          <a:bodyPr wrap="square" rtlCol="0" anchor="ctr"/>
          <a:lstStyle/>
          <a:p>
            <a:pPr algn="r" indent="0" marL="0">
              <a:buNone/>
            </a:pPr>
            <a:r>
              <a:rPr lang="en-US" sz="800" dirty="0">
                <a:solidFill>
                  <a:srgbClr val="D4CFC8"/>
                </a:solidFill>
                <a:latin typeface="Courier New" pitchFamily="34" charset="0"/>
                <a:ea typeface="Courier New" pitchFamily="34" charset="-122"/>
                <a:cs typeface="Courier New" pitchFamily="34" charset="-120"/>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457200" y="320040"/>
            <a:ext cx="685800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08 — EVALUATION &amp; ROBUSTNESS</a:t>
            </a:r>
            <a:endParaRPr lang="en-US" sz="800" dirty="0"/>
          </a:p>
        </p:txBody>
      </p:sp>
      <p:sp>
        <p:nvSpPr>
          <p:cNvPr id="3" name="Shape 1"/>
          <p:cNvSpPr/>
          <p:nvPr/>
        </p:nvSpPr>
        <p:spPr>
          <a:xfrm>
            <a:off x="457200" y="548640"/>
            <a:ext cx="8229600" cy="0"/>
          </a:xfrm>
          <a:prstGeom prst="line">
            <a:avLst/>
          </a:prstGeom>
          <a:noFill/>
          <a:ln w="6350">
            <a:solidFill>
              <a:srgbClr val="D4CFC8"/>
            </a:solidFill>
            <a:prstDash val="solid"/>
          </a:ln>
        </p:spPr>
      </p:sp>
      <p:sp>
        <p:nvSpPr>
          <p:cNvPr id="4" name="Text 2"/>
          <p:cNvSpPr/>
          <p:nvPr/>
        </p:nvSpPr>
        <p:spPr>
          <a:xfrm>
            <a:off x="457200" y="685800"/>
            <a:ext cx="4754880" cy="868680"/>
          </a:xfrm>
          <a:prstGeom prst="rect">
            <a:avLst/>
          </a:prstGeom>
          <a:noFill/>
          <a:ln/>
        </p:spPr>
        <p:txBody>
          <a:bodyPr wrap="square" rtlCol="0" anchor="ctr"/>
          <a:lstStyle/>
          <a:p>
            <a:pPr indent="0" marL="0">
              <a:lnSpc>
                <a:spcPct val="115000"/>
              </a:lnSpc>
              <a:buNone/>
            </a:pPr>
            <a:r>
              <a:rPr lang="en-US" sz="2600" dirty="0">
                <a:solidFill>
                  <a:srgbClr val="1C1917"/>
                </a:solidFill>
                <a:latin typeface="Georgia" pitchFamily="34" charset="0"/>
                <a:ea typeface="Georgia" pitchFamily="34" charset="-122"/>
                <a:cs typeface="Georgia" pitchFamily="34" charset="-120"/>
              </a:rPr>
              <a:t>All 6 edge case tests pass.</a:t>
            </a:r>
            <a:endParaRPr lang="en-US" sz="2600" dirty="0"/>
          </a:p>
          <a:p>
            <a:pPr indent="0" marL="0">
              <a:lnSpc>
                <a:spcPct val="115000"/>
              </a:lnSpc>
              <a:buNone/>
            </a:pPr>
            <a:r>
              <a:rPr lang="en-US" sz="2600" dirty="0">
                <a:solidFill>
                  <a:srgbClr val="1C1917"/>
                </a:solidFill>
                <a:latin typeface="Georgia" pitchFamily="34" charset="0"/>
                <a:ea typeface="Georgia" pitchFamily="34" charset="-122"/>
                <a:cs typeface="Georgia" pitchFamily="34" charset="-120"/>
              </a:rPr>
              <a:t>The system never crashes.</a:t>
            </a:r>
            <a:endParaRPr lang="en-US" sz="2600" dirty="0"/>
          </a:p>
        </p:txBody>
      </p:sp>
      <p:pic>
        <p:nvPicPr>
          <p:cNvPr id="5" name="Image 0" descr="preencoded.png">    </p:cNvPr>
          <p:cNvPicPr>
            <a:picLocks noChangeAspect="1"/>
          </p:cNvPicPr>
          <p:nvPr/>
        </p:nvPicPr>
        <p:blipFill>
          <a:blip r:embed="rId1"/>
          <a:stretch>
            <a:fillRect/>
          </a:stretch>
        </p:blipFill>
        <p:spPr>
          <a:xfrm>
            <a:off x="457200" y="1664208"/>
            <a:ext cx="3639608" cy="2560320"/>
          </a:xfrm>
          <a:prstGeom prst="rect">
            <a:avLst/>
          </a:prstGeom>
        </p:spPr>
      </p:pic>
      <p:sp>
        <p:nvSpPr>
          <p:cNvPr id="6" name="Text 3"/>
          <p:cNvSpPr/>
          <p:nvPr/>
        </p:nvSpPr>
        <p:spPr>
          <a:xfrm>
            <a:off x="457200" y="4279392"/>
            <a:ext cx="4754880" cy="228600"/>
          </a:xfrm>
          <a:prstGeom prst="rect">
            <a:avLst/>
          </a:prstGeom>
          <a:noFill/>
          <a:ln/>
        </p:spPr>
        <p:txBody>
          <a:bodyPr wrap="square" rtlCol="0" anchor="ctr"/>
          <a:lstStyle/>
          <a:p>
            <a:pPr indent="0" marL="0">
              <a:buNone/>
            </a:pPr>
            <a:r>
              <a:rPr lang="en-US" sz="750" dirty="0">
                <a:solidFill>
                  <a:srgbClr val="8C8680"/>
                </a:solidFill>
                <a:latin typeface="Courier New" pitchFamily="34" charset="0"/>
                <a:ea typeface="Courier New" pitchFamily="34" charset="-122"/>
                <a:cs typeface="Courier New" pitchFamily="34" charset="-120"/>
              </a:rPr>
              <a:t>test_edge_cases.py — all 6 tests passing (missing file, wrong type, sanitization, truncation, empty, gibberish)</a:t>
            </a:r>
            <a:endParaRPr lang="en-US" sz="750" dirty="0"/>
          </a:p>
        </p:txBody>
      </p:sp>
      <p:sp>
        <p:nvSpPr>
          <p:cNvPr id="7" name="Text 4"/>
          <p:cNvSpPr/>
          <p:nvPr/>
        </p:nvSpPr>
        <p:spPr>
          <a:xfrm>
            <a:off x="5760720" y="658368"/>
            <a:ext cx="2926080" cy="320040"/>
          </a:xfrm>
          <a:prstGeom prst="rect">
            <a:avLst/>
          </a:prstGeom>
          <a:noFill/>
          <a:ln/>
        </p:spPr>
        <p:txBody>
          <a:bodyPr wrap="square" rtlCol="0" anchor="ctr"/>
          <a:lstStyle/>
          <a:p>
            <a:pPr indent="0" marL="0">
              <a:buNone/>
            </a:pPr>
            <a:r>
              <a:rPr lang="en-US" sz="1600" dirty="0">
                <a:solidFill>
                  <a:srgbClr val="1C1917"/>
                </a:solidFill>
                <a:latin typeface="Georgia" pitchFamily="34" charset="0"/>
                <a:ea typeface="Georgia" pitchFamily="34" charset="-122"/>
                <a:cs typeface="Georgia" pitchFamily="34" charset="-120"/>
              </a:rPr>
              <a:t>5 Guardrails</a:t>
            </a:r>
            <a:endParaRPr lang="en-US" sz="1600" dirty="0"/>
          </a:p>
        </p:txBody>
      </p:sp>
      <p:sp>
        <p:nvSpPr>
          <p:cNvPr id="8" name="Shape 5"/>
          <p:cNvSpPr/>
          <p:nvPr/>
        </p:nvSpPr>
        <p:spPr>
          <a:xfrm>
            <a:off x="5760720" y="1005840"/>
            <a:ext cx="2926080" cy="0"/>
          </a:xfrm>
          <a:prstGeom prst="line">
            <a:avLst/>
          </a:prstGeom>
          <a:noFill/>
          <a:ln w="6350">
            <a:solidFill>
              <a:srgbClr val="E8E4DE"/>
            </a:solidFill>
            <a:prstDash val="solid"/>
          </a:ln>
        </p:spPr>
      </p:sp>
      <p:sp>
        <p:nvSpPr>
          <p:cNvPr id="9" name="Shape 6"/>
          <p:cNvSpPr/>
          <p:nvPr/>
        </p:nvSpPr>
        <p:spPr>
          <a:xfrm>
            <a:off x="5760720" y="1115568"/>
            <a:ext cx="201168" cy="201168"/>
          </a:xfrm>
          <a:prstGeom prst="rect">
            <a:avLst/>
          </a:prstGeom>
          <a:solidFill>
            <a:srgbClr val="C4441C"/>
          </a:solidFill>
          <a:ln w="12700">
            <a:solidFill>
              <a:srgbClr val="C4441C"/>
            </a:solidFill>
            <a:prstDash val="solid"/>
          </a:ln>
        </p:spPr>
      </p:sp>
      <p:sp>
        <p:nvSpPr>
          <p:cNvPr id="10" name="Text 7"/>
          <p:cNvSpPr/>
          <p:nvPr/>
        </p:nvSpPr>
        <p:spPr>
          <a:xfrm>
            <a:off x="6053328" y="1115568"/>
            <a:ext cx="2606040" cy="201168"/>
          </a:xfrm>
          <a:prstGeom prst="rect">
            <a:avLst/>
          </a:prstGeom>
          <a:noFill/>
          <a:ln/>
        </p:spPr>
        <p:txBody>
          <a:bodyPr wrap="square" rtlCol="0" anchor="ctr"/>
          <a:lstStyle/>
          <a:p>
            <a:pPr indent="0" marL="0">
              <a:buNone/>
            </a:pPr>
            <a:r>
              <a:rPr lang="en-US" sz="900" b="1" dirty="0">
                <a:solidFill>
                  <a:srgbClr val="C4441C"/>
                </a:solidFill>
                <a:latin typeface="Courier New" pitchFamily="34" charset="0"/>
                <a:ea typeface="Courier New" pitchFamily="34" charset="-122"/>
                <a:cs typeface="Courier New" pitchFamily="34" charset="-120"/>
              </a:rPr>
              <a:t>PDF check</a:t>
            </a:r>
            <a:endParaRPr lang="en-US" sz="900" dirty="0"/>
          </a:p>
        </p:txBody>
      </p:sp>
      <p:sp>
        <p:nvSpPr>
          <p:cNvPr id="11" name="Text 8"/>
          <p:cNvSpPr/>
          <p:nvPr/>
        </p:nvSpPr>
        <p:spPr>
          <a:xfrm>
            <a:off x="6053328" y="1335024"/>
            <a:ext cx="2606040" cy="347472"/>
          </a:xfrm>
          <a:prstGeom prst="rect">
            <a:avLst/>
          </a:prstGeom>
          <a:noFill/>
          <a:ln/>
        </p:spPr>
        <p:txBody>
          <a:bodyPr wrap="square" rtlCol="0" anchor="ctr"/>
          <a:lstStyle/>
          <a:p>
            <a:pPr indent="0" marL="0">
              <a:lnSpc>
                <a:spcPct val="130000"/>
              </a:lnSpc>
              <a:buNone/>
            </a:pPr>
            <a:r>
              <a:rPr lang="en-US" sz="800" dirty="0">
                <a:solidFill>
                  <a:srgbClr val="8C8680"/>
                </a:solidFill>
                <a:latin typeface="Courier New" pitchFamily="34" charset="0"/>
                <a:ea typeface="Courier New" pitchFamily="34" charset="-122"/>
                <a:cs typeface="Courier New" pitchFamily="34" charset="-120"/>
              </a:rPr>
              <a:t>File exists · .pdf · 0.01–50MB</a:t>
            </a:r>
            <a:endParaRPr lang="en-US" sz="800" dirty="0"/>
          </a:p>
        </p:txBody>
      </p:sp>
      <p:sp>
        <p:nvSpPr>
          <p:cNvPr id="12" name="Shape 9"/>
          <p:cNvSpPr/>
          <p:nvPr/>
        </p:nvSpPr>
        <p:spPr>
          <a:xfrm>
            <a:off x="5760720" y="1737360"/>
            <a:ext cx="2926080" cy="0"/>
          </a:xfrm>
          <a:prstGeom prst="line">
            <a:avLst/>
          </a:prstGeom>
          <a:noFill/>
          <a:ln w="6350">
            <a:solidFill>
              <a:srgbClr val="E8E4DE"/>
            </a:solidFill>
            <a:prstDash val="solid"/>
          </a:ln>
        </p:spPr>
      </p:sp>
      <p:sp>
        <p:nvSpPr>
          <p:cNvPr id="13" name="Shape 10"/>
          <p:cNvSpPr/>
          <p:nvPr/>
        </p:nvSpPr>
        <p:spPr>
          <a:xfrm>
            <a:off x="5760720" y="1828800"/>
            <a:ext cx="201168" cy="201168"/>
          </a:xfrm>
          <a:prstGeom prst="rect">
            <a:avLst/>
          </a:prstGeom>
          <a:solidFill>
            <a:srgbClr val="0F5F5F"/>
          </a:solidFill>
          <a:ln w="12700">
            <a:solidFill>
              <a:srgbClr val="0F5F5F"/>
            </a:solidFill>
            <a:prstDash val="solid"/>
          </a:ln>
        </p:spPr>
      </p:sp>
      <p:sp>
        <p:nvSpPr>
          <p:cNvPr id="14" name="Text 11"/>
          <p:cNvSpPr/>
          <p:nvPr/>
        </p:nvSpPr>
        <p:spPr>
          <a:xfrm>
            <a:off x="6053328" y="1828800"/>
            <a:ext cx="2606040" cy="201168"/>
          </a:xfrm>
          <a:prstGeom prst="rect">
            <a:avLst/>
          </a:prstGeom>
          <a:noFill/>
          <a:ln/>
        </p:spPr>
        <p:txBody>
          <a:bodyPr wrap="square" rtlCol="0" anchor="ctr"/>
          <a:lstStyle/>
          <a:p>
            <a:pPr indent="0" marL="0">
              <a:buNone/>
            </a:pPr>
            <a:r>
              <a:rPr lang="en-US" sz="900" b="1" dirty="0">
                <a:solidFill>
                  <a:srgbClr val="0F5F5F"/>
                </a:solidFill>
                <a:latin typeface="Courier New" pitchFamily="34" charset="0"/>
                <a:ea typeface="Courier New" pitchFamily="34" charset="-122"/>
                <a:cs typeface="Courier New" pitchFamily="34" charset="-120"/>
              </a:rPr>
              <a:t>Extraction</a:t>
            </a:r>
            <a:endParaRPr lang="en-US" sz="900" dirty="0"/>
          </a:p>
        </p:txBody>
      </p:sp>
      <p:sp>
        <p:nvSpPr>
          <p:cNvPr id="15" name="Text 12"/>
          <p:cNvSpPr/>
          <p:nvPr/>
        </p:nvSpPr>
        <p:spPr>
          <a:xfrm>
            <a:off x="6053328" y="2048256"/>
            <a:ext cx="2606040" cy="347472"/>
          </a:xfrm>
          <a:prstGeom prst="rect">
            <a:avLst/>
          </a:prstGeom>
          <a:noFill/>
          <a:ln/>
        </p:spPr>
        <p:txBody>
          <a:bodyPr wrap="square" rtlCol="0" anchor="ctr"/>
          <a:lstStyle/>
          <a:p>
            <a:pPr indent="0" marL="0">
              <a:lnSpc>
                <a:spcPct val="130000"/>
              </a:lnSpc>
              <a:buNone/>
            </a:pPr>
            <a:r>
              <a:rPr lang="en-US" sz="800" dirty="0">
                <a:solidFill>
                  <a:srgbClr val="8C8680"/>
                </a:solidFill>
                <a:latin typeface="Courier New" pitchFamily="34" charset="0"/>
                <a:ea typeface="Courier New" pitchFamily="34" charset="-122"/>
                <a:cs typeface="Courier New" pitchFamily="34" charset="-120"/>
              </a:rPr>
              <a:t>Abstract &gt;50 chars · text &gt;200 chars</a:t>
            </a:r>
            <a:endParaRPr lang="en-US" sz="800" dirty="0"/>
          </a:p>
        </p:txBody>
      </p:sp>
      <p:sp>
        <p:nvSpPr>
          <p:cNvPr id="16" name="Shape 13"/>
          <p:cNvSpPr/>
          <p:nvPr/>
        </p:nvSpPr>
        <p:spPr>
          <a:xfrm>
            <a:off x="5760720" y="2450592"/>
            <a:ext cx="2926080" cy="0"/>
          </a:xfrm>
          <a:prstGeom prst="line">
            <a:avLst/>
          </a:prstGeom>
          <a:noFill/>
          <a:ln w="6350">
            <a:solidFill>
              <a:srgbClr val="E8E4DE"/>
            </a:solidFill>
            <a:prstDash val="solid"/>
          </a:ln>
        </p:spPr>
      </p:sp>
      <p:sp>
        <p:nvSpPr>
          <p:cNvPr id="17" name="Shape 14"/>
          <p:cNvSpPr/>
          <p:nvPr/>
        </p:nvSpPr>
        <p:spPr>
          <a:xfrm>
            <a:off x="5760720" y="2542032"/>
            <a:ext cx="201168" cy="201168"/>
          </a:xfrm>
          <a:prstGeom prst="rect">
            <a:avLst/>
          </a:prstGeom>
          <a:solidFill>
            <a:srgbClr val="7B4F2E"/>
          </a:solidFill>
          <a:ln w="12700">
            <a:solidFill>
              <a:srgbClr val="7B4F2E"/>
            </a:solidFill>
            <a:prstDash val="solid"/>
          </a:ln>
        </p:spPr>
      </p:sp>
      <p:sp>
        <p:nvSpPr>
          <p:cNvPr id="18" name="Text 15"/>
          <p:cNvSpPr/>
          <p:nvPr/>
        </p:nvSpPr>
        <p:spPr>
          <a:xfrm>
            <a:off x="6053328" y="2542032"/>
            <a:ext cx="2606040" cy="201168"/>
          </a:xfrm>
          <a:prstGeom prst="rect">
            <a:avLst/>
          </a:prstGeom>
          <a:noFill/>
          <a:ln/>
        </p:spPr>
        <p:txBody>
          <a:bodyPr wrap="square" rtlCol="0" anchor="ctr"/>
          <a:lstStyle/>
          <a:p>
            <a:pPr indent="0" marL="0">
              <a:buNone/>
            </a:pPr>
            <a:r>
              <a:rPr lang="en-US" sz="900" b="1" dirty="0">
                <a:solidFill>
                  <a:srgbClr val="7B4F2E"/>
                </a:solidFill>
                <a:latin typeface="Courier New" pitchFamily="34" charset="0"/>
                <a:ea typeface="Courier New" pitchFamily="34" charset="-122"/>
                <a:cs typeface="Courier New" pitchFamily="34" charset="-120"/>
              </a:rPr>
              <a:t>Confidence</a:t>
            </a:r>
            <a:endParaRPr lang="en-US" sz="900" dirty="0"/>
          </a:p>
        </p:txBody>
      </p:sp>
      <p:sp>
        <p:nvSpPr>
          <p:cNvPr id="19" name="Text 16"/>
          <p:cNvSpPr/>
          <p:nvPr/>
        </p:nvSpPr>
        <p:spPr>
          <a:xfrm>
            <a:off x="6053328" y="2761488"/>
            <a:ext cx="2606040" cy="347472"/>
          </a:xfrm>
          <a:prstGeom prst="rect">
            <a:avLst/>
          </a:prstGeom>
          <a:noFill/>
          <a:ln/>
        </p:spPr>
        <p:txBody>
          <a:bodyPr wrap="square" rtlCol="0" anchor="ctr"/>
          <a:lstStyle/>
          <a:p>
            <a:pPr indent="0" marL="0">
              <a:lnSpc>
                <a:spcPct val="130000"/>
              </a:lnSpc>
              <a:buNone/>
            </a:pPr>
            <a:r>
              <a:rPr lang="en-US" sz="800" dirty="0">
                <a:solidFill>
                  <a:srgbClr val="8C8680"/>
                </a:solidFill>
                <a:latin typeface="Courier New" pitchFamily="34" charset="0"/>
                <a:ea typeface="Courier New" pitchFamily="34" charset="-122"/>
                <a:cs typeface="Courier New" pitchFamily="34" charset="-120"/>
              </a:rPr>
              <a:t>Below 35% → automatic HITL forced</a:t>
            </a:r>
            <a:endParaRPr lang="en-US" sz="800" dirty="0"/>
          </a:p>
        </p:txBody>
      </p:sp>
      <p:sp>
        <p:nvSpPr>
          <p:cNvPr id="20" name="Shape 17"/>
          <p:cNvSpPr/>
          <p:nvPr/>
        </p:nvSpPr>
        <p:spPr>
          <a:xfrm>
            <a:off x="5760720" y="3163824"/>
            <a:ext cx="2926080" cy="0"/>
          </a:xfrm>
          <a:prstGeom prst="line">
            <a:avLst/>
          </a:prstGeom>
          <a:noFill/>
          <a:ln w="6350">
            <a:solidFill>
              <a:srgbClr val="E8E4DE"/>
            </a:solidFill>
            <a:prstDash val="solid"/>
          </a:ln>
        </p:spPr>
      </p:sp>
      <p:sp>
        <p:nvSpPr>
          <p:cNvPr id="21" name="Shape 18"/>
          <p:cNvSpPr/>
          <p:nvPr/>
        </p:nvSpPr>
        <p:spPr>
          <a:xfrm>
            <a:off x="5760720" y="3255264"/>
            <a:ext cx="201168" cy="201168"/>
          </a:xfrm>
          <a:prstGeom prst="rect">
            <a:avLst/>
          </a:prstGeom>
          <a:solidFill>
            <a:srgbClr val="2D5016"/>
          </a:solidFill>
          <a:ln w="12700">
            <a:solidFill>
              <a:srgbClr val="2D5016"/>
            </a:solidFill>
            <a:prstDash val="solid"/>
          </a:ln>
        </p:spPr>
      </p:sp>
      <p:sp>
        <p:nvSpPr>
          <p:cNvPr id="22" name="Text 19"/>
          <p:cNvSpPr/>
          <p:nvPr/>
        </p:nvSpPr>
        <p:spPr>
          <a:xfrm>
            <a:off x="6053328" y="3255264"/>
            <a:ext cx="2606040" cy="201168"/>
          </a:xfrm>
          <a:prstGeom prst="rect">
            <a:avLst/>
          </a:prstGeom>
          <a:noFill/>
          <a:ln/>
        </p:spPr>
        <p:txBody>
          <a:bodyPr wrap="square" rtlCol="0" anchor="ctr"/>
          <a:lstStyle/>
          <a:p>
            <a:pPr indent="0" marL="0">
              <a:buNone/>
            </a:pPr>
            <a:r>
              <a:rPr lang="en-US" sz="900" b="1" dirty="0">
                <a:solidFill>
                  <a:srgbClr val="2D5016"/>
                </a:solidFill>
                <a:latin typeface="Courier New" pitchFamily="34" charset="0"/>
                <a:ea typeface="Courier New" pitchFamily="34" charset="-122"/>
                <a:cs typeface="Courier New" pitchFamily="34" charset="-120"/>
              </a:rPr>
              <a:t>Sanitize</a:t>
            </a:r>
            <a:endParaRPr lang="en-US" sz="900" dirty="0"/>
          </a:p>
        </p:txBody>
      </p:sp>
      <p:sp>
        <p:nvSpPr>
          <p:cNvPr id="23" name="Text 20"/>
          <p:cNvSpPr/>
          <p:nvPr/>
        </p:nvSpPr>
        <p:spPr>
          <a:xfrm>
            <a:off x="6053328" y="3474720"/>
            <a:ext cx="2606040" cy="347472"/>
          </a:xfrm>
          <a:prstGeom prst="rect">
            <a:avLst/>
          </a:prstGeom>
          <a:noFill/>
          <a:ln/>
        </p:spPr>
        <p:txBody>
          <a:bodyPr wrap="square" rtlCol="0" anchor="ctr"/>
          <a:lstStyle/>
          <a:p>
            <a:pPr indent="0" marL="0">
              <a:lnSpc>
                <a:spcPct val="130000"/>
              </a:lnSpc>
              <a:buNone/>
            </a:pPr>
            <a:r>
              <a:rPr lang="en-US" sz="800" dirty="0">
                <a:solidFill>
                  <a:srgbClr val="8C8680"/>
                </a:solidFill>
                <a:latin typeface="Courier New" pitchFamily="34" charset="0"/>
                <a:ea typeface="Courier New" pitchFamily="34" charset="-122"/>
                <a:cs typeface="Courier New" pitchFamily="34" charset="-120"/>
              </a:rPr>
              <a:t>Remove nulls · collapse spaces · truncate</a:t>
            </a:r>
            <a:endParaRPr lang="en-US" sz="800" dirty="0"/>
          </a:p>
        </p:txBody>
      </p:sp>
      <p:sp>
        <p:nvSpPr>
          <p:cNvPr id="24" name="Shape 21"/>
          <p:cNvSpPr/>
          <p:nvPr/>
        </p:nvSpPr>
        <p:spPr>
          <a:xfrm>
            <a:off x="5760720" y="3877056"/>
            <a:ext cx="2926080" cy="0"/>
          </a:xfrm>
          <a:prstGeom prst="line">
            <a:avLst/>
          </a:prstGeom>
          <a:noFill/>
          <a:ln w="6350">
            <a:solidFill>
              <a:srgbClr val="E8E4DE"/>
            </a:solidFill>
            <a:prstDash val="solid"/>
          </a:ln>
        </p:spPr>
      </p:sp>
      <p:sp>
        <p:nvSpPr>
          <p:cNvPr id="25" name="Shape 22"/>
          <p:cNvSpPr/>
          <p:nvPr/>
        </p:nvSpPr>
        <p:spPr>
          <a:xfrm>
            <a:off x="5760720" y="3968496"/>
            <a:ext cx="201168" cy="201168"/>
          </a:xfrm>
          <a:prstGeom prst="rect">
            <a:avLst/>
          </a:prstGeom>
          <a:solidFill>
            <a:srgbClr val="4C2D80"/>
          </a:solidFill>
          <a:ln w="12700">
            <a:solidFill>
              <a:srgbClr val="4C2D80"/>
            </a:solidFill>
            <a:prstDash val="solid"/>
          </a:ln>
        </p:spPr>
      </p:sp>
      <p:sp>
        <p:nvSpPr>
          <p:cNvPr id="26" name="Text 23"/>
          <p:cNvSpPr/>
          <p:nvPr/>
        </p:nvSpPr>
        <p:spPr>
          <a:xfrm>
            <a:off x="6053328" y="3968496"/>
            <a:ext cx="2606040" cy="201168"/>
          </a:xfrm>
          <a:prstGeom prst="rect">
            <a:avLst/>
          </a:prstGeom>
          <a:noFill/>
          <a:ln/>
        </p:spPr>
        <p:txBody>
          <a:bodyPr wrap="square" rtlCol="0" anchor="ctr"/>
          <a:lstStyle/>
          <a:p>
            <a:pPr indent="0" marL="0">
              <a:buNone/>
            </a:pPr>
            <a:r>
              <a:rPr lang="en-US" sz="900" b="1" dirty="0">
                <a:solidFill>
                  <a:srgbClr val="4C2D80"/>
                </a:solidFill>
                <a:latin typeface="Courier New" pitchFamily="34" charset="0"/>
                <a:ea typeface="Courier New" pitchFamily="34" charset="-122"/>
                <a:cs typeface="Courier New" pitchFamily="34" charset="-120"/>
              </a:rPr>
              <a:t>Retry</a:t>
            </a:r>
            <a:endParaRPr lang="en-US" sz="900" dirty="0"/>
          </a:p>
        </p:txBody>
      </p:sp>
      <p:sp>
        <p:nvSpPr>
          <p:cNvPr id="27" name="Text 24"/>
          <p:cNvSpPr/>
          <p:nvPr/>
        </p:nvSpPr>
        <p:spPr>
          <a:xfrm>
            <a:off x="6053328" y="4187952"/>
            <a:ext cx="2606040" cy="347472"/>
          </a:xfrm>
          <a:prstGeom prst="rect">
            <a:avLst/>
          </a:prstGeom>
          <a:noFill/>
          <a:ln/>
        </p:spPr>
        <p:txBody>
          <a:bodyPr wrap="square" rtlCol="0" anchor="ctr"/>
          <a:lstStyle/>
          <a:p>
            <a:pPr indent="0" marL="0">
              <a:lnSpc>
                <a:spcPct val="130000"/>
              </a:lnSpc>
              <a:buNone/>
            </a:pPr>
            <a:r>
              <a:rPr lang="en-US" sz="800" dirty="0">
                <a:solidFill>
                  <a:srgbClr val="8C8680"/>
                </a:solidFill>
                <a:latin typeface="Courier New" pitchFamily="34" charset="0"/>
                <a:ea typeface="Courier New" pitchFamily="34" charset="-122"/>
                <a:cs typeface="Courier New" pitchFamily="34" charset="-120"/>
              </a:rPr>
              <a:t>Rate limit hit? Wait and try again 3x</a:t>
            </a:r>
            <a:endParaRPr lang="en-US" sz="800" dirty="0"/>
          </a:p>
        </p:txBody>
      </p:sp>
      <p:sp>
        <p:nvSpPr>
          <p:cNvPr id="28" name="Text 25"/>
          <p:cNvSpPr/>
          <p:nvPr/>
        </p:nvSpPr>
        <p:spPr>
          <a:xfrm>
            <a:off x="8046720" y="4892040"/>
            <a:ext cx="914400" cy="182880"/>
          </a:xfrm>
          <a:prstGeom prst="rect">
            <a:avLst/>
          </a:prstGeom>
          <a:noFill/>
          <a:ln/>
        </p:spPr>
        <p:txBody>
          <a:bodyPr wrap="square" rtlCol="0" anchor="ctr"/>
          <a:lstStyle/>
          <a:p>
            <a:pPr algn="r" indent="0" marL="0">
              <a:buNone/>
            </a:pPr>
            <a:r>
              <a:rPr lang="en-US" sz="800" dirty="0">
                <a:solidFill>
                  <a:srgbClr val="D4CFC8"/>
                </a:solidFill>
                <a:latin typeface="Courier New" pitchFamily="34" charset="0"/>
                <a:ea typeface="Courier New" pitchFamily="34" charset="-122"/>
                <a:cs typeface="Courier New" pitchFamily="34" charset="-120"/>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917"/>
        </a:solidFill>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FAF7F2"/>
          </a:solidFill>
          <a:ln w="12700">
            <a:solidFill>
              <a:srgbClr val="FAF7F2"/>
            </a:solidFill>
            <a:prstDash val="solid"/>
          </a:ln>
        </p:spPr>
      </p:sp>
      <p:sp>
        <p:nvSpPr>
          <p:cNvPr id="3" name="Text 1"/>
          <p:cNvSpPr/>
          <p:nvPr/>
        </p:nvSpPr>
        <p:spPr>
          <a:xfrm>
            <a:off x="457200" y="320040"/>
            <a:ext cx="429768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09 — CONCLUSION</a:t>
            </a:r>
            <a:endParaRPr lang="en-US" sz="800" dirty="0"/>
          </a:p>
        </p:txBody>
      </p:sp>
      <p:sp>
        <p:nvSpPr>
          <p:cNvPr id="4" name="Shape 2"/>
          <p:cNvSpPr/>
          <p:nvPr/>
        </p:nvSpPr>
        <p:spPr>
          <a:xfrm>
            <a:off x="457200" y="548640"/>
            <a:ext cx="4297680" cy="0"/>
          </a:xfrm>
          <a:prstGeom prst="line">
            <a:avLst/>
          </a:prstGeom>
          <a:noFill/>
          <a:ln w="6350">
            <a:solidFill>
              <a:srgbClr val="3A3530"/>
            </a:solidFill>
            <a:prstDash val="solid"/>
          </a:ln>
        </p:spPr>
      </p:sp>
      <p:sp>
        <p:nvSpPr>
          <p:cNvPr id="5" name="Text 3"/>
          <p:cNvSpPr/>
          <p:nvPr/>
        </p:nvSpPr>
        <p:spPr>
          <a:xfrm>
            <a:off x="457200" y="713232"/>
            <a:ext cx="4297680" cy="1371600"/>
          </a:xfrm>
          <a:prstGeom prst="rect">
            <a:avLst/>
          </a:prstGeom>
          <a:noFill/>
          <a:ln/>
        </p:spPr>
        <p:txBody>
          <a:bodyPr wrap="square" rtlCol="0" anchor="ctr"/>
          <a:lstStyle/>
          <a:p>
            <a:pPr indent="0" marL="0">
              <a:lnSpc>
                <a:spcPct val="115000"/>
              </a:lnSpc>
              <a:buNone/>
            </a:pPr>
            <a:r>
              <a:rPr lang="en-US" sz="3400" dirty="0">
                <a:solidFill>
                  <a:srgbClr val="FAF7F2"/>
                </a:solidFill>
                <a:latin typeface="Georgia" pitchFamily="34" charset="0"/>
                <a:ea typeface="Georgia" pitchFamily="34" charset="-122"/>
                <a:cs typeface="Georgia" pitchFamily="34" charset="-120"/>
              </a:rPr>
              <a:t>Every component</a:t>
            </a:r>
            <a:endParaRPr lang="en-US" sz="3400" dirty="0"/>
          </a:p>
          <a:p>
            <a:pPr indent="0" marL="0">
              <a:lnSpc>
                <a:spcPct val="115000"/>
              </a:lnSpc>
              <a:buNone/>
            </a:pPr>
            <a:r>
              <a:rPr lang="en-US" sz="3400" dirty="0">
                <a:solidFill>
                  <a:srgbClr val="FAF7F2"/>
                </a:solidFill>
                <a:latin typeface="Georgia" pitchFamily="34" charset="0"/>
                <a:ea typeface="Georgia" pitchFamily="34" charset="-122"/>
                <a:cs typeface="Georgia" pitchFamily="34" charset="-120"/>
              </a:rPr>
              <a:t>exists for a reason.</a:t>
            </a:r>
            <a:endParaRPr lang="en-US" sz="3400" dirty="0"/>
          </a:p>
        </p:txBody>
      </p:sp>
      <p:sp>
        <p:nvSpPr>
          <p:cNvPr id="6" name="Text 4"/>
          <p:cNvSpPr/>
          <p:nvPr/>
        </p:nvSpPr>
        <p:spPr>
          <a:xfrm>
            <a:off x="457200" y="2176272"/>
            <a:ext cx="4297680" cy="658368"/>
          </a:xfrm>
          <a:prstGeom prst="rect">
            <a:avLst/>
          </a:prstGeom>
          <a:noFill/>
          <a:ln/>
        </p:spPr>
        <p:txBody>
          <a:bodyPr wrap="square" rtlCol="0" anchor="ctr"/>
          <a:lstStyle/>
          <a:p>
            <a:pPr indent="0" marL="0">
              <a:lnSpc>
                <a:spcPct val="160000"/>
              </a:lnSpc>
              <a:buNone/>
            </a:pPr>
            <a:r>
              <a:rPr lang="en-US" sz="1000" dirty="0">
                <a:solidFill>
                  <a:srgbClr val="8C8680"/>
                </a:solidFill>
                <a:latin typeface="Courier New" pitchFamily="34" charset="0"/>
                <a:ea typeface="Courier New" pitchFamily="34" charset="-122"/>
                <a:cs typeface="Courier New" pitchFamily="34" charset="-120"/>
              </a:rPr>
              <a:t>Every agent has a job.</a:t>
            </a:r>
            <a:endParaRPr lang="en-US" sz="1000" dirty="0"/>
          </a:p>
          <a:p>
            <a:pPr indent="0" marL="0">
              <a:lnSpc>
                <a:spcPct val="160000"/>
              </a:lnSpc>
              <a:buNone/>
            </a:pPr>
            <a:r>
              <a:rPr lang="en-US" sz="1000" dirty="0">
                <a:solidFill>
                  <a:srgbClr val="8C8680"/>
                </a:solidFill>
                <a:latin typeface="Courier New" pitchFamily="34" charset="0"/>
                <a:ea typeface="Courier New" pitchFamily="34" charset="-122"/>
                <a:cs typeface="Courier New" pitchFamily="34" charset="-120"/>
              </a:rPr>
              <a:t>We can explain every line of code.</a:t>
            </a:r>
            <a:endParaRPr lang="en-US" sz="1000" dirty="0"/>
          </a:p>
        </p:txBody>
      </p:sp>
      <p:sp>
        <p:nvSpPr>
          <p:cNvPr id="7" name="Shape 5"/>
          <p:cNvSpPr/>
          <p:nvPr/>
        </p:nvSpPr>
        <p:spPr>
          <a:xfrm>
            <a:off x="457200" y="2944368"/>
            <a:ext cx="4297680" cy="0"/>
          </a:xfrm>
          <a:prstGeom prst="line">
            <a:avLst/>
          </a:prstGeom>
          <a:noFill/>
          <a:ln w="6350">
            <a:solidFill>
              <a:srgbClr val="3A3530"/>
            </a:solidFill>
            <a:prstDash val="solid"/>
          </a:ln>
        </p:spPr>
      </p:sp>
      <p:sp>
        <p:nvSpPr>
          <p:cNvPr id="8" name="Text 6"/>
          <p:cNvSpPr/>
          <p:nvPr/>
        </p:nvSpPr>
        <p:spPr>
          <a:xfrm>
            <a:off x="457200" y="3127248"/>
            <a:ext cx="1463040" cy="256032"/>
          </a:xfrm>
          <a:prstGeom prst="rect">
            <a:avLst/>
          </a:prstGeom>
          <a:noFill/>
          <a:ln/>
        </p:spPr>
        <p:txBody>
          <a:bodyPr wrap="square" rtlCol="0" anchor="ctr"/>
          <a:lstStyle/>
          <a:p>
            <a:pPr indent="0" marL="0">
              <a:buNone/>
            </a:pPr>
            <a:r>
              <a:rPr lang="en-US" sz="1100" dirty="0">
                <a:solidFill>
                  <a:srgbClr val="FAF7F2"/>
                </a:solidFill>
                <a:latin typeface="Georgia" pitchFamily="34" charset="0"/>
                <a:ea typeface="Georgia" pitchFamily="34" charset="-122"/>
                <a:cs typeface="Georgia" pitchFamily="34" charset="-120"/>
              </a:rPr>
              <a:t>TextCNN</a:t>
            </a:r>
            <a:endParaRPr lang="en-US" sz="1100" dirty="0"/>
          </a:p>
        </p:txBody>
      </p:sp>
      <p:sp>
        <p:nvSpPr>
          <p:cNvPr id="9" name="Text 7"/>
          <p:cNvSpPr/>
          <p:nvPr/>
        </p:nvSpPr>
        <p:spPr>
          <a:xfrm>
            <a:off x="2011680" y="3145536"/>
            <a:ext cx="2743200" cy="237744"/>
          </a:xfrm>
          <a:prstGeom prst="rect">
            <a:avLst/>
          </a:prstGeom>
          <a:noFill/>
          <a:ln/>
        </p:spPr>
        <p:txBody>
          <a:bodyPr wrap="square" rtlCol="0" anchor="ctr"/>
          <a:lstStyle/>
          <a:p>
            <a:pPr indent="0" marL="0">
              <a:buNone/>
            </a:pPr>
            <a:r>
              <a:rPr lang="en-US" sz="750" dirty="0">
                <a:solidFill>
                  <a:srgbClr val="8C8680"/>
                </a:solidFill>
                <a:latin typeface="Courier New" pitchFamily="34" charset="0"/>
                <a:ea typeface="Courier New" pitchFamily="34" charset="-122"/>
                <a:cs typeface="Courier New" pitchFamily="34" charset="-120"/>
              </a:rPr>
              <a:t>Built from scratch · 4M+ params · 85%+ accuracy · dual output</a:t>
            </a:r>
            <a:endParaRPr lang="en-US" sz="750" dirty="0"/>
          </a:p>
        </p:txBody>
      </p:sp>
      <p:sp>
        <p:nvSpPr>
          <p:cNvPr id="10" name="Text 8"/>
          <p:cNvSpPr/>
          <p:nvPr/>
        </p:nvSpPr>
        <p:spPr>
          <a:xfrm>
            <a:off x="457200" y="3493008"/>
            <a:ext cx="1463040" cy="256032"/>
          </a:xfrm>
          <a:prstGeom prst="rect">
            <a:avLst/>
          </a:prstGeom>
          <a:noFill/>
          <a:ln/>
        </p:spPr>
        <p:txBody>
          <a:bodyPr wrap="square" rtlCol="0" anchor="ctr"/>
          <a:lstStyle/>
          <a:p>
            <a:pPr indent="0" marL="0">
              <a:buNone/>
            </a:pPr>
            <a:r>
              <a:rPr lang="en-US" sz="1100" dirty="0">
                <a:solidFill>
                  <a:srgbClr val="FAF7F2"/>
                </a:solidFill>
                <a:latin typeface="Georgia" pitchFamily="34" charset="0"/>
                <a:ea typeface="Georgia" pitchFamily="34" charset="-122"/>
                <a:cs typeface="Georgia" pitchFamily="34" charset="-120"/>
              </a:rPr>
              <a:t>4 Agents</a:t>
            </a:r>
            <a:endParaRPr lang="en-US" sz="1100" dirty="0"/>
          </a:p>
        </p:txBody>
      </p:sp>
      <p:sp>
        <p:nvSpPr>
          <p:cNvPr id="11" name="Text 9"/>
          <p:cNvSpPr/>
          <p:nvPr/>
        </p:nvSpPr>
        <p:spPr>
          <a:xfrm>
            <a:off x="2011680" y="3511296"/>
            <a:ext cx="2743200" cy="237744"/>
          </a:xfrm>
          <a:prstGeom prst="rect">
            <a:avLst/>
          </a:prstGeom>
          <a:noFill/>
          <a:ln/>
        </p:spPr>
        <p:txBody>
          <a:bodyPr wrap="square" rtlCol="0" anchor="ctr"/>
          <a:lstStyle/>
          <a:p>
            <a:pPr indent="0" marL="0">
              <a:buNone/>
            </a:pPr>
            <a:r>
              <a:rPr lang="en-US" sz="750" dirty="0">
                <a:solidFill>
                  <a:srgbClr val="8C8680"/>
                </a:solidFill>
                <a:latin typeface="Courier New" pitchFamily="34" charset="0"/>
                <a:ea typeface="Courier New" pitchFamily="34" charset="-122"/>
                <a:cs typeface="Courier New" pitchFamily="34" charset="-120"/>
              </a:rPr>
              <a:t>Real collaboration · sequential pipeline · context passing</a:t>
            </a:r>
            <a:endParaRPr lang="en-US" sz="750" dirty="0"/>
          </a:p>
        </p:txBody>
      </p:sp>
      <p:sp>
        <p:nvSpPr>
          <p:cNvPr id="12" name="Text 10"/>
          <p:cNvSpPr/>
          <p:nvPr/>
        </p:nvSpPr>
        <p:spPr>
          <a:xfrm>
            <a:off x="457200" y="3858768"/>
            <a:ext cx="1463040" cy="256032"/>
          </a:xfrm>
          <a:prstGeom prst="rect">
            <a:avLst/>
          </a:prstGeom>
          <a:noFill/>
          <a:ln/>
        </p:spPr>
        <p:txBody>
          <a:bodyPr wrap="square" rtlCol="0" anchor="ctr"/>
          <a:lstStyle/>
          <a:p>
            <a:pPr indent="0" marL="0">
              <a:buNone/>
            </a:pPr>
            <a:r>
              <a:rPr lang="en-US" sz="1100" dirty="0">
                <a:solidFill>
                  <a:srgbClr val="FAF7F2"/>
                </a:solidFill>
                <a:latin typeface="Georgia" pitchFamily="34" charset="0"/>
                <a:ea typeface="Georgia" pitchFamily="34" charset="-122"/>
                <a:cs typeface="Georgia" pitchFamily="34" charset="-120"/>
              </a:rPr>
              <a:t>HITL</a:t>
            </a:r>
            <a:endParaRPr lang="en-US" sz="1100" dirty="0"/>
          </a:p>
        </p:txBody>
      </p:sp>
      <p:sp>
        <p:nvSpPr>
          <p:cNvPr id="13" name="Text 11"/>
          <p:cNvSpPr/>
          <p:nvPr/>
        </p:nvSpPr>
        <p:spPr>
          <a:xfrm>
            <a:off x="2011680" y="3877056"/>
            <a:ext cx="2743200" cy="237744"/>
          </a:xfrm>
          <a:prstGeom prst="rect">
            <a:avLst/>
          </a:prstGeom>
          <a:noFill/>
          <a:ln/>
        </p:spPr>
        <p:txBody>
          <a:bodyPr wrap="square" rtlCol="0" anchor="ctr"/>
          <a:lstStyle/>
          <a:p>
            <a:pPr indent="0" marL="0">
              <a:buNone/>
            </a:pPr>
            <a:r>
              <a:rPr lang="en-US" sz="750" dirty="0">
                <a:solidFill>
                  <a:srgbClr val="8C8680"/>
                </a:solidFill>
                <a:latin typeface="Courier New" pitchFamily="34" charset="0"/>
                <a:ea typeface="Courier New" pitchFamily="34" charset="-122"/>
                <a:cs typeface="Courier New" pitchFamily="34" charset="-120"/>
              </a:rPr>
              <a:t>Meaningful checkpoint · blocks on low confidence · not cosmetic</a:t>
            </a:r>
            <a:endParaRPr lang="en-US" sz="750" dirty="0"/>
          </a:p>
        </p:txBody>
      </p:sp>
      <p:sp>
        <p:nvSpPr>
          <p:cNvPr id="14" name="Text 12"/>
          <p:cNvSpPr/>
          <p:nvPr/>
        </p:nvSpPr>
        <p:spPr>
          <a:xfrm>
            <a:off x="457200" y="4224528"/>
            <a:ext cx="1463040" cy="256032"/>
          </a:xfrm>
          <a:prstGeom prst="rect">
            <a:avLst/>
          </a:prstGeom>
          <a:noFill/>
          <a:ln/>
        </p:spPr>
        <p:txBody>
          <a:bodyPr wrap="square" rtlCol="0" anchor="ctr"/>
          <a:lstStyle/>
          <a:p>
            <a:pPr indent="0" marL="0">
              <a:buNone/>
            </a:pPr>
            <a:r>
              <a:rPr lang="en-US" sz="1100" dirty="0">
                <a:solidFill>
                  <a:srgbClr val="FAF7F2"/>
                </a:solidFill>
                <a:latin typeface="Georgia" pitchFamily="34" charset="0"/>
                <a:ea typeface="Georgia" pitchFamily="34" charset="-122"/>
                <a:cs typeface="Georgia" pitchFamily="34" charset="-120"/>
              </a:rPr>
              <a:t>Guardrails</a:t>
            </a:r>
            <a:endParaRPr lang="en-US" sz="1100" dirty="0"/>
          </a:p>
        </p:txBody>
      </p:sp>
      <p:sp>
        <p:nvSpPr>
          <p:cNvPr id="15" name="Text 13"/>
          <p:cNvSpPr/>
          <p:nvPr/>
        </p:nvSpPr>
        <p:spPr>
          <a:xfrm>
            <a:off x="2011680" y="4242816"/>
            <a:ext cx="2743200" cy="237744"/>
          </a:xfrm>
          <a:prstGeom prst="rect">
            <a:avLst/>
          </a:prstGeom>
          <a:noFill/>
          <a:ln/>
        </p:spPr>
        <p:txBody>
          <a:bodyPr wrap="square" rtlCol="0" anchor="ctr"/>
          <a:lstStyle/>
          <a:p>
            <a:pPr indent="0" marL="0">
              <a:buNone/>
            </a:pPr>
            <a:r>
              <a:rPr lang="en-US" sz="750" dirty="0">
                <a:solidFill>
                  <a:srgbClr val="8C8680"/>
                </a:solidFill>
                <a:latin typeface="Courier New" pitchFamily="34" charset="0"/>
                <a:ea typeface="Courier New" pitchFamily="34" charset="-122"/>
                <a:cs typeface="Courier New" pitchFamily="34" charset="-120"/>
              </a:rPr>
              <a:t>5 protection layers · never crashes · retry logic</a:t>
            </a:r>
            <a:endParaRPr lang="en-US" sz="750" dirty="0"/>
          </a:p>
        </p:txBody>
      </p:sp>
      <p:sp>
        <p:nvSpPr>
          <p:cNvPr id="16" name="Text 14"/>
          <p:cNvSpPr/>
          <p:nvPr/>
        </p:nvSpPr>
        <p:spPr>
          <a:xfrm>
            <a:off x="457200" y="4590288"/>
            <a:ext cx="1463040" cy="256032"/>
          </a:xfrm>
          <a:prstGeom prst="rect">
            <a:avLst/>
          </a:prstGeom>
          <a:noFill/>
          <a:ln/>
        </p:spPr>
        <p:txBody>
          <a:bodyPr wrap="square" rtlCol="0" anchor="ctr"/>
          <a:lstStyle/>
          <a:p>
            <a:pPr indent="0" marL="0">
              <a:buNone/>
            </a:pPr>
            <a:r>
              <a:rPr lang="en-US" sz="1100" dirty="0">
                <a:solidFill>
                  <a:srgbClr val="FAF7F2"/>
                </a:solidFill>
                <a:latin typeface="Georgia" pitchFamily="34" charset="0"/>
                <a:ea typeface="Georgia" pitchFamily="34" charset="-122"/>
                <a:cs typeface="Georgia" pitchFamily="34" charset="-120"/>
              </a:rPr>
              <a:t>Web + Colab</a:t>
            </a:r>
            <a:endParaRPr lang="en-US" sz="1100" dirty="0"/>
          </a:p>
        </p:txBody>
      </p:sp>
      <p:sp>
        <p:nvSpPr>
          <p:cNvPr id="17" name="Text 15"/>
          <p:cNvSpPr/>
          <p:nvPr/>
        </p:nvSpPr>
        <p:spPr>
          <a:xfrm>
            <a:off x="2011680" y="4608576"/>
            <a:ext cx="2743200" cy="237744"/>
          </a:xfrm>
          <a:prstGeom prst="rect">
            <a:avLst/>
          </a:prstGeom>
          <a:noFill/>
          <a:ln/>
        </p:spPr>
        <p:txBody>
          <a:bodyPr wrap="square" rtlCol="0" anchor="ctr"/>
          <a:lstStyle/>
          <a:p>
            <a:pPr indent="0" marL="0">
              <a:buNone/>
            </a:pPr>
            <a:r>
              <a:rPr lang="en-US" sz="750" dirty="0">
                <a:solidFill>
                  <a:srgbClr val="8C8680"/>
                </a:solidFill>
                <a:latin typeface="Courier New" pitchFamily="34" charset="0"/>
                <a:ea typeface="Courier New" pitchFamily="34" charset="-122"/>
                <a:cs typeface="Courier New" pitchFamily="34" charset="-120"/>
              </a:rPr>
              <a:t>Flask UI · Colab notebook for zero local setup</a:t>
            </a:r>
            <a:endParaRPr lang="en-US" sz="750" dirty="0"/>
          </a:p>
        </p:txBody>
      </p:sp>
      <p:sp>
        <p:nvSpPr>
          <p:cNvPr id="18" name="Text 16"/>
          <p:cNvSpPr/>
          <p:nvPr/>
        </p:nvSpPr>
        <p:spPr>
          <a:xfrm>
            <a:off x="5212080" y="365760"/>
            <a:ext cx="347472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FUTURE WORK</a:t>
            </a:r>
            <a:endParaRPr lang="en-US" sz="800" dirty="0"/>
          </a:p>
        </p:txBody>
      </p:sp>
      <p:sp>
        <p:nvSpPr>
          <p:cNvPr id="19" name="Shape 17"/>
          <p:cNvSpPr/>
          <p:nvPr/>
        </p:nvSpPr>
        <p:spPr>
          <a:xfrm>
            <a:off x="5212080" y="594360"/>
            <a:ext cx="3474720" cy="0"/>
          </a:xfrm>
          <a:prstGeom prst="line">
            <a:avLst/>
          </a:prstGeom>
          <a:noFill/>
          <a:ln w="6350">
            <a:solidFill>
              <a:srgbClr val="D4CFC8"/>
            </a:solidFill>
            <a:prstDash val="solid"/>
          </a:ln>
        </p:spPr>
      </p:sp>
      <p:sp>
        <p:nvSpPr>
          <p:cNvPr id="20" name="Text 18"/>
          <p:cNvSpPr/>
          <p:nvPr/>
        </p:nvSpPr>
        <p:spPr>
          <a:xfrm>
            <a:off x="5212080" y="749808"/>
            <a:ext cx="3474720" cy="347472"/>
          </a:xfrm>
          <a:prstGeom prst="rect">
            <a:avLst/>
          </a:prstGeom>
          <a:noFill/>
          <a:ln/>
        </p:spPr>
        <p:txBody>
          <a:bodyPr wrap="square" rtlCol="0" anchor="ctr"/>
          <a:lstStyle/>
          <a:p>
            <a:pPr indent="0" marL="0">
              <a:lnSpc>
                <a:spcPct val="140000"/>
              </a:lnSpc>
              <a:buNone/>
            </a:pPr>
            <a:r>
              <a:rPr lang="en-US" sz="900" dirty="0">
                <a:solidFill>
                  <a:srgbClr val="8C8680"/>
                </a:solidFill>
                <a:latin typeface="Courier New" pitchFamily="34" charset="0"/>
                <a:ea typeface="Courier New" pitchFamily="34" charset="-122"/>
                <a:cs typeface="Courier New" pitchFamily="34" charset="-120"/>
              </a:rPr>
              <a:t>—  Fine-tune novelty with human annotations</a:t>
            </a:r>
            <a:endParaRPr lang="en-US" sz="900" dirty="0"/>
          </a:p>
        </p:txBody>
      </p:sp>
      <p:sp>
        <p:nvSpPr>
          <p:cNvPr id="21" name="Shape 19"/>
          <p:cNvSpPr/>
          <p:nvPr/>
        </p:nvSpPr>
        <p:spPr>
          <a:xfrm>
            <a:off x="5212080" y="1097280"/>
            <a:ext cx="3474720" cy="0"/>
          </a:xfrm>
          <a:prstGeom prst="line">
            <a:avLst/>
          </a:prstGeom>
          <a:noFill/>
          <a:ln w="6350">
            <a:solidFill>
              <a:srgbClr val="E8E4DE"/>
            </a:solidFill>
            <a:prstDash val="solid"/>
          </a:ln>
        </p:spPr>
      </p:sp>
      <p:sp>
        <p:nvSpPr>
          <p:cNvPr id="22" name="Text 20"/>
          <p:cNvSpPr/>
          <p:nvPr/>
        </p:nvSpPr>
        <p:spPr>
          <a:xfrm>
            <a:off x="5212080" y="1188720"/>
            <a:ext cx="3474720" cy="347472"/>
          </a:xfrm>
          <a:prstGeom prst="rect">
            <a:avLst/>
          </a:prstGeom>
          <a:noFill/>
          <a:ln/>
        </p:spPr>
        <p:txBody>
          <a:bodyPr wrap="square" rtlCol="0" anchor="ctr"/>
          <a:lstStyle/>
          <a:p>
            <a:pPr indent="0" marL="0">
              <a:lnSpc>
                <a:spcPct val="140000"/>
              </a:lnSpc>
              <a:buNone/>
            </a:pPr>
            <a:r>
              <a:rPr lang="en-US" sz="900" dirty="0">
                <a:solidFill>
                  <a:srgbClr val="8C8680"/>
                </a:solidFill>
                <a:latin typeface="Courier New" pitchFamily="34" charset="0"/>
                <a:ea typeface="Courier New" pitchFamily="34" charset="-122"/>
                <a:cs typeface="Courier New" pitchFamily="34" charset="-120"/>
              </a:rPr>
              <a:t>—  OCR for scanned PDFs</a:t>
            </a:r>
            <a:endParaRPr lang="en-US" sz="900" dirty="0"/>
          </a:p>
        </p:txBody>
      </p:sp>
      <p:sp>
        <p:nvSpPr>
          <p:cNvPr id="23" name="Shape 21"/>
          <p:cNvSpPr/>
          <p:nvPr/>
        </p:nvSpPr>
        <p:spPr>
          <a:xfrm>
            <a:off x="5212080" y="1536192"/>
            <a:ext cx="3474720" cy="0"/>
          </a:xfrm>
          <a:prstGeom prst="line">
            <a:avLst/>
          </a:prstGeom>
          <a:noFill/>
          <a:ln w="6350">
            <a:solidFill>
              <a:srgbClr val="E8E4DE"/>
            </a:solidFill>
            <a:prstDash val="solid"/>
          </a:ln>
        </p:spPr>
      </p:sp>
      <p:sp>
        <p:nvSpPr>
          <p:cNvPr id="24" name="Text 22"/>
          <p:cNvSpPr/>
          <p:nvPr/>
        </p:nvSpPr>
        <p:spPr>
          <a:xfrm>
            <a:off x="5212080" y="1627632"/>
            <a:ext cx="3474720" cy="347472"/>
          </a:xfrm>
          <a:prstGeom prst="rect">
            <a:avLst/>
          </a:prstGeom>
          <a:noFill/>
          <a:ln/>
        </p:spPr>
        <p:txBody>
          <a:bodyPr wrap="square" rtlCol="0" anchor="ctr"/>
          <a:lstStyle/>
          <a:p>
            <a:pPr indent="0" marL="0">
              <a:lnSpc>
                <a:spcPct val="140000"/>
              </a:lnSpc>
              <a:buNone/>
            </a:pPr>
            <a:r>
              <a:rPr lang="en-US" sz="900" dirty="0">
                <a:solidFill>
                  <a:srgbClr val="8C8680"/>
                </a:solidFill>
                <a:latin typeface="Courier New" pitchFamily="34" charset="0"/>
                <a:ea typeface="Courier New" pitchFamily="34" charset="-122"/>
                <a:cs typeface="Courier New" pitchFamily="34" charset="-120"/>
              </a:rPr>
              <a:t>—  Multilingual support (French, Arabic)</a:t>
            </a:r>
            <a:endParaRPr lang="en-US" sz="900" dirty="0"/>
          </a:p>
        </p:txBody>
      </p:sp>
      <p:sp>
        <p:nvSpPr>
          <p:cNvPr id="25" name="Shape 23"/>
          <p:cNvSpPr/>
          <p:nvPr/>
        </p:nvSpPr>
        <p:spPr>
          <a:xfrm>
            <a:off x="5212080" y="1975104"/>
            <a:ext cx="3474720" cy="0"/>
          </a:xfrm>
          <a:prstGeom prst="line">
            <a:avLst/>
          </a:prstGeom>
          <a:noFill/>
          <a:ln w="6350">
            <a:solidFill>
              <a:srgbClr val="E8E4DE"/>
            </a:solidFill>
            <a:prstDash val="solid"/>
          </a:ln>
        </p:spPr>
      </p:sp>
      <p:sp>
        <p:nvSpPr>
          <p:cNvPr id="26" name="Text 24"/>
          <p:cNvSpPr/>
          <p:nvPr/>
        </p:nvSpPr>
        <p:spPr>
          <a:xfrm>
            <a:off x="5212080" y="2066544"/>
            <a:ext cx="3474720" cy="347472"/>
          </a:xfrm>
          <a:prstGeom prst="rect">
            <a:avLst/>
          </a:prstGeom>
          <a:noFill/>
          <a:ln/>
        </p:spPr>
        <p:txBody>
          <a:bodyPr wrap="square" rtlCol="0" anchor="ctr"/>
          <a:lstStyle/>
          <a:p>
            <a:pPr indent="0" marL="0">
              <a:lnSpc>
                <a:spcPct val="140000"/>
              </a:lnSpc>
              <a:buNone/>
            </a:pPr>
            <a:r>
              <a:rPr lang="en-US" sz="900" dirty="0">
                <a:solidFill>
                  <a:srgbClr val="8C8680"/>
                </a:solidFill>
                <a:latin typeface="Courier New" pitchFamily="34" charset="0"/>
                <a:ea typeface="Courier New" pitchFamily="34" charset="-122"/>
                <a:cs typeface="Courier New" pitchFamily="34" charset="-120"/>
              </a:rPr>
              <a:t>—  Public web deployment</a:t>
            </a:r>
            <a:endParaRPr lang="en-US" sz="900" dirty="0"/>
          </a:p>
        </p:txBody>
      </p:sp>
      <p:sp>
        <p:nvSpPr>
          <p:cNvPr id="27" name="Shape 25"/>
          <p:cNvSpPr/>
          <p:nvPr/>
        </p:nvSpPr>
        <p:spPr>
          <a:xfrm>
            <a:off x="5212080" y="2542032"/>
            <a:ext cx="3474720" cy="0"/>
          </a:xfrm>
          <a:prstGeom prst="line">
            <a:avLst/>
          </a:prstGeom>
          <a:noFill/>
          <a:ln w="6350">
            <a:solidFill>
              <a:srgbClr val="D4CFC8"/>
            </a:solidFill>
            <a:prstDash val="solid"/>
          </a:ln>
        </p:spPr>
      </p:sp>
      <p:sp>
        <p:nvSpPr>
          <p:cNvPr id="28" name="Text 26"/>
          <p:cNvSpPr/>
          <p:nvPr/>
        </p:nvSpPr>
        <p:spPr>
          <a:xfrm>
            <a:off x="5212080" y="2670048"/>
            <a:ext cx="3474720" cy="201168"/>
          </a:xfrm>
          <a:prstGeom prst="rect">
            <a:avLst/>
          </a:prstGeom>
          <a:noFill/>
          <a:ln/>
        </p:spPr>
        <p:txBody>
          <a:bodyPr wrap="square" rtlCol="0" anchor="ctr"/>
          <a:lstStyle/>
          <a:p>
            <a:pPr indent="0" marL="0">
              <a:buNone/>
            </a:pPr>
            <a:r>
              <a:rPr lang="en-US" sz="800" spc="400" kern="0" dirty="0">
                <a:solidFill>
                  <a:srgbClr val="8C8680"/>
                </a:solidFill>
                <a:latin typeface="Courier New" pitchFamily="34" charset="0"/>
                <a:ea typeface="Courier New" pitchFamily="34" charset="-122"/>
                <a:cs typeface="Courier New" pitchFamily="34" charset="-120"/>
              </a:rPr>
              <a:t>GITHUB</a:t>
            </a:r>
            <a:endParaRPr lang="en-US" sz="800" dirty="0"/>
          </a:p>
        </p:txBody>
      </p:sp>
      <p:sp>
        <p:nvSpPr>
          <p:cNvPr id="29" name="Text 27"/>
          <p:cNvSpPr/>
          <p:nvPr/>
        </p:nvSpPr>
        <p:spPr>
          <a:xfrm>
            <a:off x="5212080" y="2871216"/>
            <a:ext cx="3474720" cy="685800"/>
          </a:xfrm>
          <a:prstGeom prst="rect">
            <a:avLst/>
          </a:prstGeom>
          <a:noFill/>
          <a:ln/>
        </p:spPr>
        <p:txBody>
          <a:bodyPr wrap="square" rtlCol="0" anchor="ctr"/>
          <a:lstStyle/>
          <a:p>
            <a:pPr indent="0" marL="0">
              <a:lnSpc>
                <a:spcPct val="150000"/>
              </a:lnSpc>
              <a:buNone/>
            </a:pPr>
            <a:r>
              <a:rPr lang="en-US" sz="1100" dirty="0">
                <a:solidFill>
                  <a:srgbClr val="1C1917"/>
                </a:solidFill>
                <a:latin typeface="Courier New" pitchFamily="34" charset="0"/>
                <a:ea typeface="Courier New" pitchFamily="34" charset="-122"/>
                <a:cs typeface="Courier New" pitchFamily="34" charset="-120"/>
              </a:rPr>
              <a:t>github.com/ayamouden999-bot/</a:t>
            </a:r>
            <a:endParaRPr lang="en-US" sz="1100" dirty="0"/>
          </a:p>
          <a:p>
            <a:pPr indent="0" marL="0">
              <a:lnSpc>
                <a:spcPct val="150000"/>
              </a:lnSpc>
              <a:buNone/>
            </a:pPr>
            <a:r>
              <a:rPr lang="en-US" sz="1100" dirty="0">
                <a:solidFill>
                  <a:srgbClr val="1C1917"/>
                </a:solidFill>
                <a:latin typeface="Courier New" pitchFamily="34" charset="0"/>
                <a:ea typeface="Courier New" pitchFamily="34" charset="-122"/>
                <a:cs typeface="Courier New" pitchFamily="34" charset="-120"/>
              </a:rPr>
              <a:t>academic-paper-intelligence</a:t>
            </a:r>
            <a:endParaRPr lang="en-US" sz="1100" dirty="0"/>
          </a:p>
        </p:txBody>
      </p:sp>
      <p:sp>
        <p:nvSpPr>
          <p:cNvPr id="30" name="Shape 28"/>
          <p:cNvSpPr/>
          <p:nvPr/>
        </p:nvSpPr>
        <p:spPr>
          <a:xfrm>
            <a:off x="5212080" y="3657600"/>
            <a:ext cx="3474720" cy="0"/>
          </a:xfrm>
          <a:prstGeom prst="line">
            <a:avLst/>
          </a:prstGeom>
          <a:noFill/>
          <a:ln w="6350">
            <a:solidFill>
              <a:srgbClr val="D4CFC8"/>
            </a:solidFill>
            <a:prstDash val="solid"/>
          </a:ln>
        </p:spPr>
      </p:sp>
      <p:sp>
        <p:nvSpPr>
          <p:cNvPr id="31" name="Text 29"/>
          <p:cNvSpPr/>
          <p:nvPr/>
        </p:nvSpPr>
        <p:spPr>
          <a:xfrm>
            <a:off x="5212080" y="3858768"/>
            <a:ext cx="3474720" cy="658368"/>
          </a:xfrm>
          <a:prstGeom prst="rect">
            <a:avLst/>
          </a:prstGeom>
          <a:noFill/>
          <a:ln/>
        </p:spPr>
        <p:txBody>
          <a:bodyPr wrap="square" rtlCol="0" anchor="ctr"/>
          <a:lstStyle/>
          <a:p>
            <a:pPr indent="0" marL="0">
              <a:buNone/>
            </a:pPr>
            <a:r>
              <a:rPr lang="en-US" sz="3400" dirty="0">
                <a:solidFill>
                  <a:srgbClr val="1C1917"/>
                </a:solidFill>
                <a:latin typeface="Georgia" pitchFamily="34" charset="0"/>
                <a:ea typeface="Georgia" pitchFamily="34" charset="-122"/>
                <a:cs typeface="Georgia" pitchFamily="34" charset="-120"/>
              </a:rPr>
              <a:t>Thank you.</a:t>
            </a:r>
            <a:endParaRPr lang="en-US" sz="3400" dirty="0"/>
          </a:p>
        </p:txBody>
      </p:sp>
      <p:sp>
        <p:nvSpPr>
          <p:cNvPr id="32" name="Text 30"/>
          <p:cNvSpPr/>
          <p:nvPr/>
        </p:nvSpPr>
        <p:spPr>
          <a:xfrm>
            <a:off x="5212080" y="4553712"/>
            <a:ext cx="3474720" cy="256032"/>
          </a:xfrm>
          <a:prstGeom prst="rect">
            <a:avLst/>
          </a:prstGeom>
          <a:noFill/>
          <a:ln/>
        </p:spPr>
        <p:txBody>
          <a:bodyPr wrap="square" rtlCol="0" anchor="ctr"/>
          <a:lstStyle/>
          <a:p>
            <a:pPr indent="0" marL="0">
              <a:buNone/>
            </a:pPr>
            <a:r>
              <a:rPr lang="en-US" sz="1000" dirty="0">
                <a:solidFill>
                  <a:srgbClr val="8C8680"/>
                </a:solidFill>
                <a:latin typeface="Courier New" pitchFamily="34" charset="0"/>
                <a:ea typeface="Courier New" pitchFamily="34" charset="-122"/>
                <a:cs typeface="Courier New" pitchFamily="34" charset="-120"/>
              </a:rPr>
              <a:t>Questions?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Academic Paper Intelligence</dc:title>
  <dc:subject>PptxGenJS Presentation</dc:subject>
  <dc:creator>PptxGenJS</dc:creator>
  <cp:lastModifiedBy>PptxGenJS</cp:lastModifiedBy>
  <cp:revision>1</cp:revision>
  <dcterms:created xsi:type="dcterms:W3CDTF">2026-05-25T11:16:11Z</dcterms:created>
  <dcterms:modified xsi:type="dcterms:W3CDTF">2026-05-25T11:16:11Z</dcterms:modified>
</cp:coreProperties>
</file>